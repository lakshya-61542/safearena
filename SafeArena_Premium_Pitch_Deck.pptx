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5033" autoAdjust="0"/>
  </p:normalViewPr>
  <p:slideViewPr>
    <p:cSldViewPr snapToGrid="0" snapToObjects="1">
      <p:cViewPr varScale="1">
        <p:scale>
          <a:sx n="78" d="100"/>
          <a:sy n="78" d="100"/>
        </p:scale>
        <p:origin x="850"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600967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 judges. We are team VSV The Tech Giants, presenting SafeArena. As generative AI and autonomous agents enter production, organizations must conduct rigorous adversarial testing. But testing AI systems today without strict controls is dangerous: red teams running prompt injections can accidentally compromise backend databases or staging environments. SafeArena introduces an integrated, controlled testing environment based on four principles: Isolate, Control, Detect, and Prove. We segregate testing into isolated zones, enforce a default-deny gateway, detect prompt injections, and mathematically prove every decision using a SHA-256 audit ledger.</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Why is AI security testing fundamentally different and more challenging? First, when red teams test prompt injections and agent jailbreaks, they aren't just sending static text. Modern LLMs invoke tools, call internal APIs, and access memory. If you run red-team testing in a flat environment, an injected payload can trigger unexpected lateral access into blue-team defensive state or company data. Second, there is rarely an intermediary policy gate. Testers query models directly without access control enforcement. Third, standard application logs provide zero cryptographic proof. An operator can edit or delete a log line, meaning you cannot prove to an auditor what was tested. SafeArena addresses this entire problem chain.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Let's be completely fair to existing tools. Organizations either use ad-hoc scripting or try to adapt enterprise SIEMs. With ad-hoc scripts, there is zero network isolation, zero policy mediation, and zero auditability. With enterprise tooling, you have generic Layer 7 proxies and centralized SIEMs. But these systems are blind to AI prompt injection heuristics, cost tens of thousands of dollars, and still store records in mutable database rows. SafeArena was designed to close this exact architectural gap: a lightweight, self-contained environment that unites container isolation, default-deny policy mediation, real-time event telemetry, and cryptographic audit proofs.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the core SafeArena architecture, captured in four words: Isolate, Control, Detect, and Prove. First, we isolate the actors. In Docker mode, Red, Blue, and LLM zones run in hardened containers on distinct internal subnets. Second, we control communication. The Security Gateway is the only bridge. It enforces a strict default-deny policy. Third, we detect threats. Blocked cross-zone access raises high-severity events; prompt injection heuristic hits raise medium events. Fourth, we prove what happened. Every decision is hashed using SHA-256 and chained to the previous record. This gives organizations mathematical proof of their AI safety evaluations.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5 shows our core defense-in-depth architecture. Notice three critical architectural details: First, network separation. Red, Blue, and LLM services run on three separate internal Docker networks: red_net, blue_net, and llm_net. They have no route to each other and no route to the internet. Second, the Security Gateway is the only bridge connected to all three networks. It enforces our default-deny matrix. Red can reach the LLM through the gateway. Blue can reach the LLM through the gateway. However, Red attempting to reach Blue directly is blocked at the gateway with an HTTP 403 Forbidden. The blocked payload is dropped immediately and never forwarded. Third, persistence: decisions are committed to SQLite for rapid querying and appended to the SHA-256 audit ledger.</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Let's trace the journey of a single security test request through SafeArena. Step 1: The test runner posts a payload with a declared source and target. Step 2: The policy engine evaluates the route against our default-deny matrix. Step 3: If unauthorized, like Red attempting to reach Blue, the gateway terminates the connection immediately with HTTP 403. The payload is discarded and never forwarded. Step 4: If authorized, such as Red querying the LLM, the payload passes through heuristic prompt injection detection and reaches the model. Step 5: The gateway calculates the SHA-256 hash of the transaction, canonicalizes the JSON, chains it to the previous record, and updates the head checkpoint. Step 6: A structured security event is saved to SQLite, linking directly to the audit hash. Notice our dual control: the Gateway handles application policy; Docker handles Layer-3 network isolation.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7 explains how we mathematically prove the integrity of testing records. Every event is appended to a JSONL log where each row embeds the SHA-256 hash of the row before it. If someone changes a single letter in an earlier record, that record's hash changes. The very next record's previous hash link is instantly broken, and our verifier flags the exact row number. We also implemented a checkpoint file to catch tail truncation if an attacker tries to delete the latest lines. Crucially, we believe in honest cybersecurity engineering: a local hash chain alone cannot stop an attacker who has complete root filesystem access and rewrites both the log and checkpoint simultaneously. In our roadmap, we address this via external HMAC signing and WORM cloud storage.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you are looking at an authentic screenshot of the running SafeArena console. We built this as a zero-external-dependency, lightweight web dashboard adhering to a strict Content Security Policy. On the left, the operator has instant visibility into the zones and can trigger pre-configured test scenarios. When Red attempts to reach Blue, the gateway card immediately turns red, the blocked counter increments, and a high-severity POLICY_VIOLATION event is committed to SQLite. With one click on 'Verify audit chain', SafeArena recomputes every SHA-256 hash across the entire log. Clicking 'Run tamper test' proves our integrity verification by intentionally corrupting log copies seven different ways. Our entire test suite of 103 automated tests passed in 8.1 seconds.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9 outlines our technology stack with complete technical honesty. Our core engines—policy enforcement, audit chaining, event logging, and prompt heuristics—are completely modular Python. We chose Flask for this build because it ran flawlessly without external internet dependencies in isolated test environments, and the architecture is completely decoupled so porting to FastAPI requires only rewriting app.py. In our Docker topology, all zone containers drop all Linux capabilities and run with read-only root filesystems. For AI models, we support both a deterministic local mock—which simulates benign prompts, refusals, and canary leaks—and live Google Gemini API calls. API keys stay exclusively on the gateway; they are never logged or exposed to zone containers.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Who needs SafeArena today? We identified four primary stakeholder groups. First, AI Red Teams who need a blast-proof environment to run aggressive exploits without risking enterprise assets. Second, AppSec and DevSecOps engineers validating LLM guardrails in CI/CD pipelines before shipping models to production. Third, AI Governance, Risk, and Compliance officers who need non-repudiable audit logs to satisfy the EU AI Act and NIST AI Risk Management Framework. Fourth, universities and cyber ranges training the next generation of AI security defenders. SafeArena gives each of these personas a controlled, repeatable, and mathematically verifiable testing ground.</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our engineering roadmap. We built SafeArena with a clear, realistic trajectory. Phase 1 is complete and fully tested: a functional core prototype with default-deny policy, SHA-256 audit chaining, SQLite event storage, and a live web console, verified by 103 automated tests. Phase 2 is Docker-ready: multi-container composition with internal bridge networks and automated probe testing. Phase 3 introduces cryptographic identity: replacing caller-asserted zone headers with mutual TLS or signed JWTs, ensuring that zone identities cannot be spoofed. Phase 4 scales this to enterprise production: integrating Hardware Security Modules for cryptographic key signing, WORM cloud storage for immutable audit persistence, and multi-node testing for autonomous agent swarms.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conclude: SafeArena provides the missing foundation for trustworthy adversarial AI testing. Test AI systems in a controlled environment. Enforce the rules. Record what happens. Verify the evidence. We are VSV The Tech Giants, and SafeArena is built, tested, and ready for your evaluation. Thank you so much, and we look forward to your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31520" y="548640"/>
            <a:ext cx="2103120" cy="292608"/>
          </a:xfrm>
          <a:prstGeom prst="round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1000" b="1">
                <a:solidFill>
                  <a:srgbClr val="0A0E17"/>
                </a:solidFill>
                <a:latin typeface="Segoe UI"/>
              </a:defRPr>
            </a:pPr>
            <a:r>
              <a:t>HACK IN HILLS '26</a:t>
            </a:r>
          </a:p>
        </p:txBody>
      </p:sp>
      <p:sp>
        <p:nvSpPr>
          <p:cNvPr id="4" name="Rounded Rectangle 3"/>
          <p:cNvSpPr/>
          <p:nvPr/>
        </p:nvSpPr>
        <p:spPr>
          <a:xfrm>
            <a:off x="2926080" y="548640"/>
            <a:ext cx="2834640" cy="292608"/>
          </a:xfrm>
          <a:prstGeom prst="round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1000" b="1">
                <a:solidFill>
                  <a:srgbClr val="00E5FF"/>
                </a:solidFill>
                <a:latin typeface="Segoe UI"/>
              </a:defRPr>
            </a:pPr>
            <a:r>
              <a:t>CYBERSECURITY &amp; AI DEFENSE TRACK</a:t>
            </a:r>
          </a:p>
        </p:txBody>
      </p:sp>
      <p:sp>
        <p:nvSpPr>
          <p:cNvPr id="5" name="TextBox 4"/>
          <p:cNvSpPr txBox="1"/>
          <p:nvPr/>
        </p:nvSpPr>
        <p:spPr>
          <a:xfrm>
            <a:off x="731520" y="1051560"/>
            <a:ext cx="5852160" cy="1188720"/>
          </a:xfrm>
          <a:prstGeom prst="rect">
            <a:avLst/>
          </a:prstGeom>
          <a:noFill/>
        </p:spPr>
        <p:txBody>
          <a:bodyPr wrap="square">
            <a:spAutoFit/>
          </a:bodyPr>
          <a:lstStyle/>
          <a:p>
            <a:pPr>
              <a:defRPr sz="5000" b="1">
                <a:solidFill>
                  <a:srgbClr val="F8FAFC"/>
                </a:solidFill>
                <a:latin typeface="Segoe UI"/>
              </a:defRPr>
            </a:pPr>
            <a:r>
              <a:t>SafeArena</a:t>
            </a:r>
          </a:p>
        </p:txBody>
      </p:sp>
      <p:sp>
        <p:nvSpPr>
          <p:cNvPr id="6" name="TextBox 5"/>
          <p:cNvSpPr txBox="1"/>
          <p:nvPr/>
        </p:nvSpPr>
        <p:spPr>
          <a:xfrm>
            <a:off x="731520" y="2240280"/>
            <a:ext cx="5852160" cy="411480"/>
          </a:xfrm>
          <a:prstGeom prst="rect">
            <a:avLst/>
          </a:prstGeom>
          <a:noFill/>
        </p:spPr>
        <p:txBody>
          <a:bodyPr wrap="square">
            <a:spAutoFit/>
          </a:bodyPr>
          <a:lstStyle/>
          <a:p>
            <a:pPr>
              <a:defRPr sz="1600" b="1">
                <a:solidFill>
                  <a:srgbClr val="00E5FF"/>
                </a:solidFill>
                <a:latin typeface="Segoe UI"/>
              </a:defRPr>
            </a:pPr>
            <a:r>
              <a:t>Isolate  →  Control  →  Detect  →  Prove</a:t>
            </a:r>
          </a:p>
        </p:txBody>
      </p:sp>
      <p:sp>
        <p:nvSpPr>
          <p:cNvPr id="7" name="TextBox 6"/>
          <p:cNvSpPr txBox="1"/>
          <p:nvPr/>
        </p:nvSpPr>
        <p:spPr>
          <a:xfrm>
            <a:off x="731520" y="2743200"/>
            <a:ext cx="5303520" cy="2103120"/>
          </a:xfrm>
          <a:prstGeom prst="rect">
            <a:avLst/>
          </a:prstGeom>
          <a:noFill/>
        </p:spPr>
        <p:txBody>
          <a:bodyPr wrap="square">
            <a:spAutoFit/>
          </a:bodyPr>
          <a:lstStyle/>
          <a:p>
            <a:pPr>
              <a:spcAft>
                <a:spcPts val="1000"/>
              </a:spcAft>
              <a:defRPr sz="1400" b="1">
                <a:solidFill>
                  <a:srgbClr val="F8FAFC"/>
                </a:solidFill>
                <a:latin typeface="Segoe UI"/>
              </a:defRPr>
            </a:pPr>
            <a:r>
              <a:rPr dirty="0"/>
              <a:t>A Controlled Security Testing Environment for AI Systems</a:t>
            </a:r>
          </a:p>
          <a:p>
            <a:pPr>
              <a:defRPr sz="1100">
                <a:solidFill>
                  <a:srgbClr val="E2E8F0"/>
                </a:solidFill>
                <a:latin typeface="Segoe UI"/>
              </a:defRPr>
            </a:pPr>
            <a:r>
              <a:rPr dirty="0" err="1"/>
              <a:t>SafeArena</a:t>
            </a:r>
            <a:r>
              <a:rPr dirty="0"/>
              <a:t> enables authorized adversarial AI evaluation while preventing unauthorized cross-zone lateral movement. Every request is mediated by a default-deny security gateway, monitored for prompt-injection threats, and sealed in a tamper-evident SHA-256 audit ledger.</a:t>
            </a:r>
          </a:p>
        </p:txBody>
      </p:sp>
      <p:sp>
        <p:nvSpPr>
          <p:cNvPr id="8" name="Rounded Rectangle 7"/>
          <p:cNvSpPr/>
          <p:nvPr/>
        </p:nvSpPr>
        <p:spPr>
          <a:xfrm>
            <a:off x="731520" y="5029200"/>
            <a:ext cx="5303520" cy="1234440"/>
          </a:xfrm>
          <a:prstGeom prst="roundRect">
            <a:avLst/>
          </a:prstGeom>
          <a:solidFill>
            <a:srgbClr val="111827"/>
          </a:solidFill>
          <a:ln w="1270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5348793"/>
            <a:ext cx="4937760" cy="584775"/>
          </a:xfrm>
          <a:prstGeom prst="rect">
            <a:avLst/>
          </a:prstGeom>
          <a:noFill/>
        </p:spPr>
        <p:txBody>
          <a:bodyPr wrap="square">
            <a:spAutoFit/>
          </a:bodyPr>
          <a:lstStyle/>
          <a:p>
            <a:pPr>
              <a:defRPr sz="1100" b="1">
                <a:solidFill>
                  <a:srgbClr val="00E5FF"/>
                </a:solidFill>
                <a:latin typeface="Segoe UI"/>
              </a:defRPr>
            </a:pPr>
            <a:r>
              <a:rPr sz="1200" dirty="0"/>
              <a:t>TEAM: VSV The Tech Giants</a:t>
            </a:r>
          </a:p>
          <a:p>
            <a:pPr>
              <a:defRPr sz="950">
                <a:solidFill>
                  <a:srgbClr val="F8FAFC"/>
                </a:solidFill>
                <a:latin typeface="Segoe UI"/>
              </a:defRPr>
            </a:pPr>
            <a:r>
              <a:rPr sz="1000" dirty="0"/>
              <a:t>PROJECT STATUS: Functional Working Prototype (103 Unit &amp; API Tests Passing)</a:t>
            </a:r>
          </a:p>
          <a:p>
            <a:pPr>
              <a:defRPr sz="950">
                <a:solidFill>
                  <a:srgbClr val="E2E8F0"/>
                </a:solidFill>
                <a:latin typeface="Segoe UI"/>
              </a:defRPr>
            </a:pPr>
            <a:r>
              <a:rPr sz="1000" dirty="0"/>
              <a:t>DEPLOYMENT MODES: Local Policy Simulation  |  Multi-Container Docker Isolation</a:t>
            </a:r>
          </a:p>
        </p:txBody>
      </p:sp>
      <p:sp>
        <p:nvSpPr>
          <p:cNvPr id="10" name="Rounded Rectangle 9"/>
          <p:cNvSpPr/>
          <p:nvPr/>
        </p:nvSpPr>
        <p:spPr>
          <a:xfrm>
            <a:off x="6309360" y="1051560"/>
            <a:ext cx="5120640" cy="5212080"/>
          </a:xfrm>
          <a:prstGeom prst="roundRect">
            <a:avLst/>
          </a:prstGeom>
          <a:solidFill>
            <a:srgbClr val="111827"/>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83680" y="1280160"/>
            <a:ext cx="4572000" cy="365760"/>
          </a:xfrm>
          <a:prstGeom prst="rect">
            <a:avLst/>
          </a:prstGeom>
          <a:noFill/>
        </p:spPr>
        <p:txBody>
          <a:bodyPr wrap="none">
            <a:spAutoFit/>
          </a:bodyPr>
          <a:lstStyle/>
          <a:p>
            <a:pPr>
              <a:defRPr sz="1100" b="1">
                <a:solidFill>
                  <a:srgbClr val="00E5FF"/>
                </a:solidFill>
                <a:latin typeface="Segoe UI"/>
              </a:defRPr>
            </a:pPr>
            <a:r>
              <a:t>PROTECTED TOPOLOGY ARCHITECTURE</a:t>
            </a:r>
          </a:p>
        </p:txBody>
      </p:sp>
      <p:sp>
        <p:nvSpPr>
          <p:cNvPr id="12" name="Rounded Rectangle 11"/>
          <p:cNvSpPr/>
          <p:nvPr/>
        </p:nvSpPr>
        <p:spPr>
          <a:xfrm>
            <a:off x="6583680" y="1737360"/>
            <a:ext cx="2103120" cy="1051560"/>
          </a:xfrm>
          <a:prstGeom prst="roundRect">
            <a:avLst/>
          </a:prstGeom>
          <a:solidFill>
            <a:srgbClr val="182135"/>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6720840" y="1847088"/>
            <a:ext cx="777240" cy="219456"/>
          </a:xfrm>
          <a:prstGeom prst="round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800" b="1">
                <a:solidFill>
                  <a:srgbClr val="F8FAFC"/>
                </a:solidFill>
                <a:latin typeface="Segoe UI"/>
              </a:defRPr>
            </a:pPr>
            <a:r>
              <a:rPr sz="1000" dirty="0"/>
              <a:t>RED ZONE</a:t>
            </a:r>
          </a:p>
        </p:txBody>
      </p:sp>
      <p:sp>
        <p:nvSpPr>
          <p:cNvPr id="14" name="TextBox 13"/>
          <p:cNvSpPr txBox="1"/>
          <p:nvPr/>
        </p:nvSpPr>
        <p:spPr>
          <a:xfrm>
            <a:off x="6720840" y="2121408"/>
            <a:ext cx="1828800" cy="415498"/>
          </a:xfrm>
          <a:prstGeom prst="rect">
            <a:avLst/>
          </a:prstGeom>
          <a:noFill/>
        </p:spPr>
        <p:txBody>
          <a:bodyPr wrap="square">
            <a:spAutoFit/>
          </a:bodyPr>
          <a:lstStyle/>
          <a:p>
            <a:pPr>
              <a:defRPr sz="950">
                <a:solidFill>
                  <a:srgbClr val="F8FAFC"/>
                </a:solidFill>
                <a:latin typeface="Segoe UI"/>
              </a:defRPr>
            </a:pPr>
            <a:r>
              <a:rPr sz="1050" dirty="0"/>
              <a:t>Adversarial Probes</a:t>
            </a:r>
            <a:br>
              <a:rPr sz="1050" dirty="0"/>
            </a:br>
            <a:r>
              <a:rPr sz="1050" dirty="0"/>
              <a:t>Attack Tooling &amp; Fuzzing</a:t>
            </a:r>
          </a:p>
        </p:txBody>
      </p:sp>
      <p:sp>
        <p:nvSpPr>
          <p:cNvPr id="15" name="Rounded Rectangle 14"/>
          <p:cNvSpPr/>
          <p:nvPr/>
        </p:nvSpPr>
        <p:spPr>
          <a:xfrm>
            <a:off x="9052560" y="1737360"/>
            <a:ext cx="2103120" cy="1051560"/>
          </a:xfrm>
          <a:prstGeom prst="roundRect">
            <a:avLst/>
          </a:prstGeom>
          <a:solidFill>
            <a:srgbClr val="182135"/>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9189720" y="1847088"/>
            <a:ext cx="777240" cy="219456"/>
          </a:xfrm>
          <a:prstGeom prst="round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800" b="1">
                <a:solidFill>
                  <a:srgbClr val="F8FAFC"/>
                </a:solidFill>
                <a:latin typeface="Segoe UI"/>
              </a:defRPr>
            </a:pPr>
            <a:r>
              <a:rPr sz="1000" dirty="0"/>
              <a:t>BLUE ZONE</a:t>
            </a:r>
          </a:p>
        </p:txBody>
      </p:sp>
      <p:sp>
        <p:nvSpPr>
          <p:cNvPr id="17" name="TextBox 16"/>
          <p:cNvSpPr txBox="1"/>
          <p:nvPr/>
        </p:nvSpPr>
        <p:spPr>
          <a:xfrm>
            <a:off x="9189720" y="2121408"/>
            <a:ext cx="1828800" cy="577081"/>
          </a:xfrm>
          <a:prstGeom prst="rect">
            <a:avLst/>
          </a:prstGeom>
          <a:noFill/>
        </p:spPr>
        <p:txBody>
          <a:bodyPr wrap="square">
            <a:spAutoFit/>
          </a:bodyPr>
          <a:lstStyle/>
          <a:p>
            <a:pPr>
              <a:defRPr sz="950">
                <a:solidFill>
                  <a:srgbClr val="F8FAFC"/>
                </a:solidFill>
                <a:latin typeface="Segoe UI"/>
              </a:defRPr>
            </a:pPr>
            <a:r>
              <a:rPr sz="1050" dirty="0"/>
              <a:t>Defensive State</a:t>
            </a:r>
            <a:br>
              <a:rPr sz="1050" dirty="0"/>
            </a:br>
            <a:r>
              <a:rPr sz="1050" dirty="0"/>
              <a:t>Protected Resources &amp; Rules</a:t>
            </a:r>
          </a:p>
        </p:txBody>
      </p:sp>
      <p:sp>
        <p:nvSpPr>
          <p:cNvPr id="18" name="Rounded Rectangle 17"/>
          <p:cNvSpPr/>
          <p:nvPr/>
        </p:nvSpPr>
        <p:spPr>
          <a:xfrm>
            <a:off x="6583680" y="2971800"/>
            <a:ext cx="4572000" cy="1097280"/>
          </a:xfrm>
          <a:prstGeom prst="roundRect">
            <a:avLst/>
          </a:prstGeom>
          <a:solidFill>
            <a:srgbClr val="182135"/>
          </a:solidFill>
          <a:ln w="254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6720840" y="3090672"/>
            <a:ext cx="1645920" cy="228600"/>
          </a:xfrm>
          <a:prstGeom prst="round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850" b="1">
                <a:solidFill>
                  <a:srgbClr val="0A0E17"/>
                </a:solidFill>
                <a:latin typeface="Segoe UI"/>
              </a:defRPr>
            </a:pPr>
            <a:r>
              <a:rPr sz="1000" dirty="0"/>
              <a:t>SECURITY GATEWAY</a:t>
            </a:r>
          </a:p>
        </p:txBody>
      </p:sp>
      <p:sp>
        <p:nvSpPr>
          <p:cNvPr id="20" name="Rounded Rectangle 19"/>
          <p:cNvSpPr/>
          <p:nvPr/>
        </p:nvSpPr>
        <p:spPr>
          <a:xfrm>
            <a:off x="9326880" y="3090672"/>
            <a:ext cx="1645920" cy="22860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800" b="1">
                <a:solidFill>
                  <a:srgbClr val="0A0E17"/>
                </a:solidFill>
                <a:latin typeface="Segoe UI"/>
              </a:defRPr>
            </a:pPr>
            <a:r>
              <a:rPr sz="1000" dirty="0"/>
              <a:t>POLICY: DEFAULT-DENY</a:t>
            </a:r>
          </a:p>
        </p:txBody>
      </p:sp>
      <p:sp>
        <p:nvSpPr>
          <p:cNvPr id="21" name="TextBox 20"/>
          <p:cNvSpPr txBox="1"/>
          <p:nvPr/>
        </p:nvSpPr>
        <p:spPr>
          <a:xfrm>
            <a:off x="6720840" y="3401568"/>
            <a:ext cx="4297680" cy="400110"/>
          </a:xfrm>
          <a:prstGeom prst="rect">
            <a:avLst/>
          </a:prstGeom>
          <a:noFill/>
        </p:spPr>
        <p:txBody>
          <a:bodyPr wrap="square">
            <a:spAutoFit/>
          </a:bodyPr>
          <a:lstStyle/>
          <a:p>
            <a:pPr>
              <a:defRPr sz="950" b="1">
                <a:solidFill>
                  <a:srgbClr val="F8FAFC"/>
                </a:solidFill>
                <a:latin typeface="Segoe UI"/>
              </a:defRPr>
            </a:pPr>
            <a:r>
              <a:rPr sz="1000" dirty="0"/>
              <a:t>Central Policy Enforcement  ·  Injection Heuristic Inspection  ·  Zero Cross-Zone Bypass</a:t>
            </a:r>
          </a:p>
        </p:txBody>
      </p:sp>
      <p:sp>
        <p:nvSpPr>
          <p:cNvPr id="22" name="Rounded Rectangle 21"/>
          <p:cNvSpPr/>
          <p:nvPr/>
        </p:nvSpPr>
        <p:spPr>
          <a:xfrm>
            <a:off x="6583680" y="4251960"/>
            <a:ext cx="4572000" cy="868680"/>
          </a:xfrm>
          <a:prstGeom prst="roundRect">
            <a:avLst/>
          </a:prstGeom>
          <a:solidFill>
            <a:srgbClr val="182135"/>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6720840" y="4370832"/>
            <a:ext cx="1280160" cy="219456"/>
          </a:xfrm>
          <a:prstGeom prst="round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800" b="1">
                <a:solidFill>
                  <a:srgbClr val="F8FAFC"/>
                </a:solidFill>
                <a:latin typeface="Segoe UI"/>
              </a:defRPr>
            </a:pPr>
            <a:r>
              <a:t>CLIENT LLM ZONE</a:t>
            </a:r>
          </a:p>
        </p:txBody>
      </p:sp>
      <p:sp>
        <p:nvSpPr>
          <p:cNvPr id="24" name="TextBox 23"/>
          <p:cNvSpPr txBox="1"/>
          <p:nvPr/>
        </p:nvSpPr>
        <p:spPr>
          <a:xfrm>
            <a:off x="8138160" y="4370832"/>
            <a:ext cx="2834640" cy="400110"/>
          </a:xfrm>
          <a:prstGeom prst="rect">
            <a:avLst/>
          </a:prstGeom>
          <a:noFill/>
        </p:spPr>
        <p:txBody>
          <a:bodyPr wrap="square">
            <a:spAutoFit/>
          </a:bodyPr>
          <a:lstStyle/>
          <a:p>
            <a:pPr>
              <a:defRPr sz="900">
                <a:solidFill>
                  <a:srgbClr val="F8FAFC"/>
                </a:solidFill>
                <a:latin typeface="Segoe UI"/>
              </a:defRPr>
            </a:pPr>
            <a:r>
              <a:rPr sz="1000" dirty="0"/>
              <a:t>Isolated Target AI System (Deterministic Mock or Google Gemini API)</a:t>
            </a:r>
          </a:p>
        </p:txBody>
      </p:sp>
      <p:sp>
        <p:nvSpPr>
          <p:cNvPr id="25" name="Rounded Rectangle 24"/>
          <p:cNvSpPr/>
          <p:nvPr/>
        </p:nvSpPr>
        <p:spPr>
          <a:xfrm>
            <a:off x="6583680" y="5303520"/>
            <a:ext cx="4572000" cy="731520"/>
          </a:xfrm>
          <a:prstGeom prst="roundRect">
            <a:avLst/>
          </a:prstGeom>
          <a:solidFill>
            <a:srgbClr val="18213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6720840" y="5413248"/>
            <a:ext cx="1371600" cy="201168"/>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800" b="1">
                <a:solidFill>
                  <a:srgbClr val="0A0E17"/>
                </a:solidFill>
                <a:latin typeface="Segoe UI"/>
              </a:defRPr>
            </a:pPr>
            <a:r>
              <a:t>SHA-256 AUDIT CHAIN</a:t>
            </a:r>
          </a:p>
        </p:txBody>
      </p:sp>
      <p:sp>
        <p:nvSpPr>
          <p:cNvPr id="27" name="TextBox 26"/>
          <p:cNvSpPr txBox="1"/>
          <p:nvPr/>
        </p:nvSpPr>
        <p:spPr>
          <a:xfrm>
            <a:off x="8138160" y="5394960"/>
            <a:ext cx="3048000" cy="246221"/>
          </a:xfrm>
          <a:prstGeom prst="rect">
            <a:avLst/>
          </a:prstGeom>
          <a:noFill/>
        </p:spPr>
        <p:txBody>
          <a:bodyPr wrap="square">
            <a:spAutoFit/>
          </a:bodyPr>
          <a:lstStyle/>
          <a:p>
            <a:pPr>
              <a:defRPr sz="850">
                <a:solidFill>
                  <a:srgbClr val="E2E8F0"/>
                </a:solidFill>
                <a:latin typeface="Segoe UI"/>
              </a:defRPr>
            </a:pPr>
            <a:r>
              <a:rPr sz="1000" dirty="0"/>
              <a:t>Cryptographic Record Linking &amp; Head Checkpoint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3" name="TextBox 2"/>
          <p:cNvSpPr txBox="1"/>
          <p:nvPr/>
        </p:nvSpPr>
        <p:spPr>
          <a:xfrm>
            <a:off x="731520" y="384048"/>
            <a:ext cx="10515600" cy="153888"/>
          </a:xfrm>
          <a:prstGeom prst="rect">
            <a:avLst/>
          </a:prstGeom>
          <a:noFill/>
        </p:spPr>
        <p:txBody>
          <a:bodyPr wrap="square" lIns="0" tIns="0" rIns="0" bIns="0">
            <a:spAutoFit/>
          </a:bodyPr>
          <a:lstStyle/>
          <a:p>
            <a:pPr>
              <a:defRPr sz="1000" b="1">
                <a:solidFill>
                  <a:srgbClr val="00E5FF"/>
                </a:solidFill>
                <a:latin typeface="Segoe UI"/>
              </a:defRPr>
            </a:pPr>
            <a:r>
              <a:rPr>
                <a:latin typeface="Calibri Light" panose="020F0302020204030204" pitchFamily="34" charset="0"/>
                <a:ea typeface="Calibri Light" panose="020F0302020204030204" pitchFamily="34" charset="0"/>
                <a:cs typeface="Calibri Light" panose="020F0302020204030204" pitchFamily="34" charset="0"/>
              </a:rPr>
              <a:t>01 // THE THREAT LANDSCAPE</a:t>
            </a:r>
          </a:p>
        </p:txBody>
      </p:sp>
      <p:sp>
        <p:nvSpPr>
          <p:cNvPr id="4" name="TextBox 3"/>
          <p:cNvSpPr txBox="1"/>
          <p:nvPr/>
        </p:nvSpPr>
        <p:spPr>
          <a:xfrm>
            <a:off x="731520" y="658368"/>
            <a:ext cx="10698480" cy="338554"/>
          </a:xfrm>
          <a:prstGeom prst="rect">
            <a:avLst/>
          </a:prstGeom>
          <a:noFill/>
        </p:spPr>
        <p:txBody>
          <a:bodyPr wrap="square" lIns="0" tIns="0" rIns="0" bIns="0">
            <a:spAutoFit/>
          </a:bodyPr>
          <a:lstStyle/>
          <a:p>
            <a:pPr>
              <a:defRPr sz="2200" b="1">
                <a:solidFill>
                  <a:srgbClr val="F8FAFC"/>
                </a:solidFill>
                <a:latin typeface="Segoe UI"/>
              </a:defRPr>
            </a:pPr>
            <a:r>
              <a:rPr dirty="0">
                <a:latin typeface="Calibri Light" panose="020F0302020204030204" pitchFamily="34" charset="0"/>
                <a:ea typeface="Calibri Light" panose="020F0302020204030204" pitchFamily="34" charset="0"/>
                <a:cs typeface="Calibri Light" panose="020F0302020204030204" pitchFamily="34" charset="0"/>
              </a:rPr>
              <a:t>The Danger of Uncontrolled AI Security Testing</a:t>
            </a:r>
          </a:p>
        </p:txBody>
      </p:sp>
      <p:sp>
        <p:nvSpPr>
          <p:cNvPr id="5" name="TextBox 4"/>
          <p:cNvSpPr txBox="1"/>
          <p:nvPr/>
        </p:nvSpPr>
        <p:spPr>
          <a:xfrm>
            <a:off x="731520" y="1243584"/>
            <a:ext cx="10698480" cy="169277"/>
          </a:xfrm>
          <a:prstGeom prst="rect">
            <a:avLst/>
          </a:prstGeom>
          <a:noFill/>
        </p:spPr>
        <p:txBody>
          <a:bodyPr wrap="square" lIns="0" tIns="0" rIns="0" bIns="0">
            <a:spAutoFit/>
          </a:bodyPr>
          <a:lstStyle/>
          <a:p>
            <a:pPr>
              <a:defRPr sz="1100">
                <a:solidFill>
                  <a:srgbClr val="E2E8F0"/>
                </a:solidFill>
                <a:latin typeface="Segoe UI"/>
              </a:defRPr>
            </a:pPr>
            <a:r>
              <a:rPr>
                <a:latin typeface="Calibri Light" panose="020F0302020204030204" pitchFamily="34" charset="0"/>
                <a:ea typeface="Calibri Light" panose="020F0302020204030204" pitchFamily="34" charset="0"/>
                <a:cs typeface="Calibri Light" panose="020F0302020204030204" pitchFamily="34" charset="0"/>
              </a:rPr>
              <a:t>Evaluating AI systems in shared, unsegmented environments introduces severe security and operational liabilities.</a:t>
            </a:r>
          </a:p>
        </p:txBody>
      </p:sp>
      <p:sp>
        <p:nvSpPr>
          <p:cNvPr id="6" name="Rounded Rectangle 5"/>
          <p:cNvSpPr/>
          <p:nvPr/>
        </p:nvSpPr>
        <p:spPr>
          <a:xfrm>
            <a:off x="731520" y="1691640"/>
            <a:ext cx="3328416" cy="3749039"/>
          </a:xfrm>
          <a:prstGeom prst="roundRect">
            <a:avLst/>
          </a:prstGeom>
          <a:solidFill>
            <a:srgbClr val="111827"/>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7" name="Rounded Rectangle 6"/>
          <p:cNvSpPr/>
          <p:nvPr/>
        </p:nvSpPr>
        <p:spPr>
          <a:xfrm>
            <a:off x="960120" y="1920240"/>
            <a:ext cx="1463040" cy="256032"/>
          </a:xfrm>
          <a:prstGeom prst="round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900" b="1">
                <a:solidFill>
                  <a:srgbClr val="F8FAFC"/>
                </a:solidFill>
                <a:latin typeface="Segoe UI"/>
              </a:defRPr>
            </a:pPr>
            <a:r>
              <a:rPr sz="1000" dirty="0">
                <a:latin typeface="Calibri Light" panose="020F0302020204030204" pitchFamily="34" charset="0"/>
                <a:ea typeface="Calibri Light" panose="020F0302020204030204" pitchFamily="34" charset="0"/>
                <a:cs typeface="Calibri Light" panose="020F0302020204030204" pitchFamily="34" charset="0"/>
              </a:rPr>
              <a:t>RED TEAM RISK</a:t>
            </a:r>
          </a:p>
        </p:txBody>
      </p:sp>
      <p:sp>
        <p:nvSpPr>
          <p:cNvPr id="8" name="TextBox 7"/>
          <p:cNvSpPr txBox="1"/>
          <p:nvPr/>
        </p:nvSpPr>
        <p:spPr>
          <a:xfrm>
            <a:off x="960120" y="2286000"/>
            <a:ext cx="2871216" cy="2882840"/>
          </a:xfrm>
          <a:prstGeom prst="rect">
            <a:avLst/>
          </a:prstGeom>
          <a:noFill/>
        </p:spPr>
        <p:txBody>
          <a:bodyPr wrap="square">
            <a:spAutoFit/>
          </a:bodyPr>
          <a:lstStyle/>
          <a:p>
            <a:pPr>
              <a:spcAft>
                <a:spcPts val="1000"/>
              </a:spcAft>
              <a:defRPr sz="1300" b="1">
                <a:solidFill>
                  <a:srgbClr val="F8FAFC"/>
                </a:solidFill>
                <a:latin typeface="Segoe UI"/>
              </a:defRPr>
            </a:pPr>
            <a:r>
              <a:rPr sz="1600" dirty="0">
                <a:latin typeface="Calibri Light" panose="020F0302020204030204" pitchFamily="34" charset="0"/>
                <a:ea typeface="Calibri Light" panose="020F0302020204030204" pitchFamily="34" charset="0"/>
                <a:cs typeface="Calibri Light" panose="020F0302020204030204" pitchFamily="34" charset="0"/>
              </a:rPr>
              <a:t>Uncontained Adversarial Blast Radius</a:t>
            </a:r>
          </a:p>
          <a:p>
            <a:pPr>
              <a:spcAft>
                <a:spcPts val="600"/>
              </a:spcAft>
              <a:defRPr sz="950" b="0">
                <a:solidFill>
                  <a:srgbClr val="E2E8F0"/>
                </a:solidFill>
                <a:latin typeface="Segoe UI"/>
              </a:defRPr>
            </a:pPr>
            <a:r>
              <a:rPr sz="1050" dirty="0">
                <a:latin typeface="Calibri Light" panose="020F0302020204030204" pitchFamily="34" charset="0"/>
                <a:ea typeface="Calibri Light" panose="020F0302020204030204" pitchFamily="34" charset="0"/>
                <a:cs typeface="Calibri Light" panose="020F0302020204030204" pitchFamily="34" charset="0"/>
              </a:rPr>
              <a:t>• Adversarial prompts, jailbreaks, and autonomous agent exploits are often tested on shared corporate networks.</a:t>
            </a:r>
          </a:p>
          <a:p>
            <a:pPr>
              <a:spcAft>
                <a:spcPts val="600"/>
              </a:spcAft>
              <a:defRPr sz="950" b="0">
                <a:solidFill>
                  <a:srgbClr val="E2E8F0"/>
                </a:solidFill>
                <a:latin typeface="Segoe UI"/>
              </a:defRPr>
            </a:pPr>
            <a:r>
              <a:rPr sz="1050" dirty="0">
                <a:latin typeface="Calibri Light" panose="020F0302020204030204" pitchFamily="34" charset="0"/>
                <a:ea typeface="Calibri Light" panose="020F0302020204030204" pitchFamily="34" charset="0"/>
                <a:cs typeface="Calibri Light" panose="020F0302020204030204" pitchFamily="34" charset="0"/>
              </a:rPr>
              <a:t>• Without hard network and process isolation, payloads can execute lateral movement toward internal databases or defenses.</a:t>
            </a:r>
          </a:p>
          <a:p>
            <a:pPr>
              <a:spcAft>
                <a:spcPts val="600"/>
              </a:spcAft>
              <a:defRPr sz="950" b="0">
                <a:solidFill>
                  <a:srgbClr val="E2E8F0"/>
                </a:solidFill>
                <a:latin typeface="Segoe UI"/>
              </a:defRPr>
            </a:pPr>
            <a:r>
              <a:rPr sz="1050" dirty="0">
                <a:latin typeface="Calibri Light" panose="020F0302020204030204" pitchFamily="34" charset="0"/>
                <a:ea typeface="Calibri Light" panose="020F0302020204030204" pitchFamily="34" charset="0"/>
                <a:cs typeface="Calibri Light" panose="020F0302020204030204" pitchFamily="34" charset="0"/>
              </a:rPr>
              <a:t>• Uncontrolled tests can inadvertently exfiltrate sensitive credentials, canary tokens, or proprietary prompts.</a:t>
            </a:r>
          </a:p>
          <a:p>
            <a:pPr>
              <a:spcAft>
                <a:spcPts val="600"/>
              </a:spcAft>
              <a:defRPr sz="950" b="1">
                <a:solidFill>
                  <a:srgbClr val="EF4444"/>
                </a:solidFill>
                <a:latin typeface="Segoe UI"/>
              </a:defRPr>
            </a:pPr>
            <a:r>
              <a:rPr sz="1050" dirty="0">
                <a:latin typeface="Calibri Light" panose="020F0302020204030204" pitchFamily="34" charset="0"/>
                <a:ea typeface="Calibri Light" panose="020F0302020204030204" pitchFamily="34" charset="0"/>
                <a:cs typeface="Calibri Light" panose="020F0302020204030204" pitchFamily="34" charset="0"/>
              </a:rPr>
              <a:t>• CRITICAL RISK: Testing red-team exploits can unintentionally compromise internal production state</a:t>
            </a:r>
            <a:r>
              <a:rPr sz="1000" dirty="0">
                <a:latin typeface="Calibri Light" panose="020F0302020204030204" pitchFamily="34" charset="0"/>
                <a:ea typeface="Calibri Light" panose="020F0302020204030204" pitchFamily="34" charset="0"/>
                <a:cs typeface="Calibri Light" panose="020F0302020204030204" pitchFamily="34" charset="0"/>
              </a:rPr>
              <a:t>.</a:t>
            </a:r>
          </a:p>
        </p:txBody>
      </p:sp>
      <p:sp>
        <p:nvSpPr>
          <p:cNvPr id="9" name="Rounded Rectangle 8"/>
          <p:cNvSpPr/>
          <p:nvPr/>
        </p:nvSpPr>
        <p:spPr>
          <a:xfrm>
            <a:off x="4425696" y="1691640"/>
            <a:ext cx="3328416" cy="3749039"/>
          </a:xfrm>
          <a:prstGeom prst="roundRect">
            <a:avLst/>
          </a:prstGeom>
          <a:solidFill>
            <a:srgbClr val="111827"/>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10" name="Rounded Rectangle 9"/>
          <p:cNvSpPr/>
          <p:nvPr/>
        </p:nvSpPr>
        <p:spPr>
          <a:xfrm>
            <a:off x="4654296" y="1920240"/>
            <a:ext cx="1645920" cy="256032"/>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900" b="1">
                <a:solidFill>
                  <a:srgbClr val="0A0E17"/>
                </a:solidFill>
                <a:latin typeface="Segoe UI"/>
              </a:defRPr>
            </a:pPr>
            <a:r>
              <a:rPr sz="1000" dirty="0">
                <a:latin typeface="Calibri Light" panose="020F0302020204030204" pitchFamily="34" charset="0"/>
                <a:ea typeface="Calibri Light" panose="020F0302020204030204" pitchFamily="34" charset="0"/>
                <a:cs typeface="Calibri Light" panose="020F0302020204030204" pitchFamily="34" charset="0"/>
              </a:rPr>
              <a:t>ENFORCEMENT GAP</a:t>
            </a:r>
          </a:p>
        </p:txBody>
      </p:sp>
      <p:sp>
        <p:nvSpPr>
          <p:cNvPr id="11" name="TextBox 10"/>
          <p:cNvSpPr txBox="1"/>
          <p:nvPr/>
        </p:nvSpPr>
        <p:spPr>
          <a:xfrm>
            <a:off x="4654296" y="2286000"/>
            <a:ext cx="2871216" cy="2636619"/>
          </a:xfrm>
          <a:prstGeom prst="rect">
            <a:avLst/>
          </a:prstGeom>
          <a:noFill/>
        </p:spPr>
        <p:txBody>
          <a:bodyPr wrap="square">
            <a:spAutoFit/>
          </a:bodyPr>
          <a:lstStyle/>
          <a:p>
            <a:pPr>
              <a:spcAft>
                <a:spcPts val="1000"/>
              </a:spcAft>
              <a:defRPr sz="1300" b="1">
                <a:solidFill>
                  <a:srgbClr val="F8FAFC"/>
                </a:solidFill>
                <a:latin typeface="Segoe UI"/>
              </a:defRPr>
            </a:pPr>
            <a:r>
              <a:rPr sz="1600" dirty="0">
                <a:latin typeface="Calibri Light" panose="020F0302020204030204" pitchFamily="34" charset="0"/>
                <a:ea typeface="Calibri Light" panose="020F0302020204030204" pitchFamily="34" charset="0"/>
                <a:cs typeface="Calibri Light" panose="020F0302020204030204" pitchFamily="34" charset="0"/>
              </a:rPr>
              <a:t>Direct, Unmediated Access Paths</a:t>
            </a:r>
          </a:p>
          <a:p>
            <a:pPr>
              <a:spcAft>
                <a:spcPts val="600"/>
              </a:spcAft>
              <a:defRPr sz="950" b="0">
                <a:solidFill>
                  <a:srgbClr val="E2E8F0"/>
                </a:solidFill>
                <a:latin typeface="Segoe UI"/>
              </a:defRPr>
            </a:pPr>
            <a:r>
              <a:rPr sz="1050" dirty="0">
                <a:latin typeface="Calibri Light" panose="020F0302020204030204" pitchFamily="34" charset="0"/>
                <a:ea typeface="Calibri Light" panose="020F0302020204030204" pitchFamily="34" charset="0"/>
                <a:cs typeface="Calibri Light" panose="020F0302020204030204" pitchFamily="34" charset="0"/>
              </a:rPr>
              <a:t>• Testing tools routinely connect directly to target LLM endpoints without an intervening policy enforcement layer.</a:t>
            </a:r>
          </a:p>
          <a:p>
            <a:pPr>
              <a:spcAft>
                <a:spcPts val="600"/>
              </a:spcAft>
              <a:defRPr sz="950" b="0">
                <a:solidFill>
                  <a:srgbClr val="E2E8F0"/>
                </a:solidFill>
                <a:latin typeface="Segoe UI"/>
              </a:defRPr>
            </a:pPr>
            <a:r>
              <a:rPr sz="1050" dirty="0">
                <a:latin typeface="Calibri Light" panose="020F0302020204030204" pitchFamily="34" charset="0"/>
                <a:ea typeface="Calibri Light" panose="020F0302020204030204" pitchFamily="34" charset="0"/>
                <a:cs typeface="Calibri Light" panose="020F0302020204030204" pitchFamily="34" charset="0"/>
              </a:rPr>
              <a:t>• There is no active policy inspection determining whether the caller is authorized to invoke specific model tools or modes.</a:t>
            </a:r>
          </a:p>
          <a:p>
            <a:pPr>
              <a:spcAft>
                <a:spcPts val="600"/>
              </a:spcAft>
              <a:defRPr sz="950" b="0">
                <a:solidFill>
                  <a:srgbClr val="E2E8F0"/>
                </a:solidFill>
                <a:latin typeface="Segoe UI"/>
              </a:defRPr>
            </a:pPr>
            <a:r>
              <a:rPr sz="1050" dirty="0">
                <a:latin typeface="Calibri Light" panose="020F0302020204030204" pitchFamily="34" charset="0"/>
                <a:ea typeface="Calibri Light" panose="020F0302020204030204" pitchFamily="34" charset="0"/>
                <a:cs typeface="Calibri Light" panose="020F0302020204030204" pitchFamily="34" charset="0"/>
              </a:rPr>
              <a:t>• Cross-zone communications (such as red attackers probing blue defenses) proceed unhindered.</a:t>
            </a:r>
          </a:p>
          <a:p>
            <a:pPr>
              <a:spcAft>
                <a:spcPts val="600"/>
              </a:spcAft>
              <a:defRPr sz="950" b="1">
                <a:solidFill>
                  <a:srgbClr val="F59E0B"/>
                </a:solidFill>
                <a:latin typeface="Segoe UI"/>
              </a:defRPr>
            </a:pPr>
            <a:r>
              <a:rPr sz="1050" dirty="0">
                <a:latin typeface="Calibri Light" panose="020F0302020204030204" pitchFamily="34" charset="0"/>
                <a:ea typeface="Calibri Light" panose="020F0302020204030204" pitchFamily="34" charset="0"/>
                <a:cs typeface="Calibri Light" panose="020F0302020204030204" pitchFamily="34" charset="0"/>
              </a:rPr>
              <a:t>• CRITICAL RISK: Security teams cannot enforce granular access boundaries between testers, models, and defended assets.</a:t>
            </a:r>
          </a:p>
        </p:txBody>
      </p:sp>
      <p:sp>
        <p:nvSpPr>
          <p:cNvPr id="12" name="Rounded Rectangle 11"/>
          <p:cNvSpPr/>
          <p:nvPr/>
        </p:nvSpPr>
        <p:spPr>
          <a:xfrm>
            <a:off x="8119872" y="1691640"/>
            <a:ext cx="3328416" cy="3749039"/>
          </a:xfrm>
          <a:prstGeom prst="roundRect">
            <a:avLst/>
          </a:prstGeom>
          <a:solidFill>
            <a:srgbClr val="111827"/>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13" name="Rounded Rectangle 12"/>
          <p:cNvSpPr/>
          <p:nvPr/>
        </p:nvSpPr>
        <p:spPr>
          <a:xfrm>
            <a:off x="8348472" y="1920240"/>
            <a:ext cx="1798418" cy="256032"/>
          </a:xfrm>
          <a:prstGeom prst="round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900" b="1">
                <a:solidFill>
                  <a:srgbClr val="0A0E17"/>
                </a:solidFill>
                <a:latin typeface="Segoe UI"/>
              </a:defRPr>
            </a:pPr>
            <a:r>
              <a:rPr sz="1000" dirty="0">
                <a:latin typeface="Calibri Light" panose="020F0302020204030204" pitchFamily="34" charset="0"/>
                <a:ea typeface="Calibri Light" panose="020F0302020204030204" pitchFamily="34" charset="0"/>
                <a:cs typeface="Calibri Light" panose="020F0302020204030204" pitchFamily="34" charset="0"/>
              </a:rPr>
              <a:t>EVIDENTIARY BLINDSPOT</a:t>
            </a:r>
          </a:p>
        </p:txBody>
      </p:sp>
      <p:sp>
        <p:nvSpPr>
          <p:cNvPr id="14" name="TextBox 13"/>
          <p:cNvSpPr txBox="1"/>
          <p:nvPr/>
        </p:nvSpPr>
        <p:spPr>
          <a:xfrm>
            <a:off x="8348472" y="2286000"/>
            <a:ext cx="2871216" cy="2882840"/>
          </a:xfrm>
          <a:prstGeom prst="rect">
            <a:avLst/>
          </a:prstGeom>
          <a:noFill/>
        </p:spPr>
        <p:txBody>
          <a:bodyPr wrap="square">
            <a:spAutoFit/>
          </a:bodyPr>
          <a:lstStyle/>
          <a:p>
            <a:pPr>
              <a:spcAft>
                <a:spcPts val="1000"/>
              </a:spcAft>
              <a:defRPr sz="1300" b="1">
                <a:solidFill>
                  <a:srgbClr val="F8FAFC"/>
                </a:solidFill>
                <a:latin typeface="Segoe UI"/>
              </a:defRPr>
            </a:pPr>
            <a:r>
              <a:rPr sz="1600" dirty="0">
                <a:latin typeface="Calibri Light" panose="020F0302020204030204" pitchFamily="34" charset="0"/>
                <a:ea typeface="Calibri Light" panose="020F0302020204030204" pitchFamily="34" charset="0"/>
                <a:cs typeface="Calibri Light" panose="020F0302020204030204" pitchFamily="34" charset="0"/>
              </a:rPr>
              <a:t>Ephemeral &amp; Malleable Audit Logs</a:t>
            </a:r>
          </a:p>
          <a:p>
            <a:pPr>
              <a:spcAft>
                <a:spcPts val="600"/>
              </a:spcAft>
              <a:defRPr sz="950" b="0">
                <a:solidFill>
                  <a:srgbClr val="E2E8F0"/>
                </a:solidFill>
                <a:latin typeface="Segoe UI"/>
              </a:defRPr>
            </a:pPr>
            <a:r>
              <a:rPr sz="1050" dirty="0">
                <a:latin typeface="Calibri Light" panose="020F0302020204030204" pitchFamily="34" charset="0"/>
                <a:ea typeface="Calibri Light" panose="020F0302020204030204" pitchFamily="34" charset="0"/>
                <a:cs typeface="Calibri Light" panose="020F0302020204030204" pitchFamily="34" charset="0"/>
              </a:rPr>
              <a:t>• Test logs are frequently relegated to terminal </a:t>
            </a:r>
            <a:r>
              <a:rPr sz="1050" dirty="0" err="1">
                <a:latin typeface="Calibri Light" panose="020F0302020204030204" pitchFamily="34" charset="0"/>
                <a:ea typeface="Calibri Light" panose="020F0302020204030204" pitchFamily="34" charset="0"/>
                <a:cs typeface="Calibri Light" panose="020F0302020204030204" pitchFamily="34" charset="0"/>
              </a:rPr>
              <a:t>stdout</a:t>
            </a:r>
            <a:r>
              <a:rPr sz="1050" dirty="0">
                <a:latin typeface="Calibri Light" panose="020F0302020204030204" pitchFamily="34" charset="0"/>
                <a:ea typeface="Calibri Light" panose="020F0302020204030204" pitchFamily="34" charset="0"/>
                <a:cs typeface="Calibri Light" panose="020F0302020204030204" pitchFamily="34" charset="0"/>
              </a:rPr>
              <a:t>, ephemeral debug files, or mutable database tables.</a:t>
            </a:r>
          </a:p>
          <a:p>
            <a:pPr>
              <a:spcAft>
                <a:spcPts val="600"/>
              </a:spcAft>
              <a:defRPr sz="950" b="0">
                <a:solidFill>
                  <a:srgbClr val="E2E8F0"/>
                </a:solidFill>
                <a:latin typeface="Segoe UI"/>
              </a:defRPr>
            </a:pPr>
            <a:r>
              <a:rPr sz="1050" dirty="0">
                <a:latin typeface="Calibri Light" panose="020F0302020204030204" pitchFamily="34" charset="0"/>
                <a:ea typeface="Calibri Light" panose="020F0302020204030204" pitchFamily="34" charset="0"/>
                <a:cs typeface="Calibri Light" panose="020F0302020204030204" pitchFamily="34" charset="0"/>
              </a:rPr>
              <a:t>• Standard log files can be arbitrarily edited, truncated, reordered, or deleted by system operators or attackers.</a:t>
            </a:r>
          </a:p>
          <a:p>
            <a:pPr>
              <a:spcAft>
                <a:spcPts val="600"/>
              </a:spcAft>
              <a:defRPr sz="950" b="0">
                <a:solidFill>
                  <a:srgbClr val="E2E8F0"/>
                </a:solidFill>
                <a:latin typeface="Segoe UI"/>
              </a:defRPr>
            </a:pPr>
            <a:r>
              <a:rPr sz="1050" dirty="0">
                <a:latin typeface="Calibri Light" panose="020F0302020204030204" pitchFamily="34" charset="0"/>
                <a:ea typeface="Calibri Light" panose="020F0302020204030204" pitchFamily="34" charset="0"/>
                <a:cs typeface="Calibri Light" panose="020F0302020204030204" pitchFamily="34" charset="0"/>
              </a:rPr>
              <a:t>• Auditors, governance boards, and GRC teams have zero cryptographic assurance of what actually happened during testing.</a:t>
            </a:r>
          </a:p>
          <a:p>
            <a:pPr>
              <a:spcAft>
                <a:spcPts val="600"/>
              </a:spcAft>
              <a:defRPr sz="950" b="1">
                <a:solidFill>
                  <a:srgbClr val="00E5FF"/>
                </a:solidFill>
                <a:latin typeface="Segoe UI"/>
              </a:defRPr>
            </a:pPr>
            <a:r>
              <a:rPr sz="1050" dirty="0">
                <a:latin typeface="Calibri Light" panose="020F0302020204030204" pitchFamily="34" charset="0"/>
                <a:ea typeface="Calibri Light" panose="020F0302020204030204" pitchFamily="34" charset="0"/>
                <a:cs typeface="Calibri Light" panose="020F0302020204030204" pitchFamily="34" charset="0"/>
              </a:rPr>
              <a:t>• CRITICAL RISK: Inability to prove non-repudiation or satisfy emerging AI compliance frameworks (NIST AI RMF, EU AI Act).</a:t>
            </a:r>
          </a:p>
        </p:txBody>
      </p:sp>
      <p:sp>
        <p:nvSpPr>
          <p:cNvPr id="15" name="Rounded Rectangle 14"/>
          <p:cNvSpPr/>
          <p:nvPr/>
        </p:nvSpPr>
        <p:spPr>
          <a:xfrm>
            <a:off x="731520" y="5623560"/>
            <a:ext cx="10716768" cy="685800"/>
          </a:xfrm>
          <a:prstGeom prst="roundRect">
            <a:avLst/>
          </a:prstGeom>
          <a:solidFill>
            <a:srgbClr val="182135"/>
          </a:solidFill>
          <a:ln w="1270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16" name="TextBox 15"/>
          <p:cNvSpPr txBox="1"/>
          <p:nvPr/>
        </p:nvSpPr>
        <p:spPr>
          <a:xfrm>
            <a:off x="914400" y="5687568"/>
            <a:ext cx="10332720" cy="430887"/>
          </a:xfrm>
          <a:prstGeom prst="rect">
            <a:avLst/>
          </a:prstGeom>
          <a:noFill/>
        </p:spPr>
        <p:txBody>
          <a:bodyPr wrap="square">
            <a:spAutoFit/>
          </a:bodyPr>
          <a:lstStyle/>
          <a:p>
            <a:pPr>
              <a:defRPr sz="1000" b="1">
                <a:solidFill>
                  <a:srgbClr val="F8FAFC"/>
                </a:solidFill>
                <a:latin typeface="Segoe UI"/>
              </a:defRPr>
            </a:pPr>
            <a:r>
              <a:rPr sz="1100" dirty="0">
                <a:latin typeface="Calibri Light" panose="020F0302020204030204" pitchFamily="34" charset="0"/>
                <a:ea typeface="Calibri Light" panose="020F0302020204030204" pitchFamily="34" charset="0"/>
                <a:cs typeface="Calibri Light" panose="020F0302020204030204" pitchFamily="34" charset="0"/>
              </a:rPr>
              <a:t>CORE PROBLEM: AI security testing requires an environment where red teams can be aggressively adversarial, blue assets remain strictly untouchable, and every security event is cryptographically non-repudiable.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84048"/>
            <a:ext cx="10515600" cy="256032"/>
          </a:xfrm>
          <a:prstGeom prst="rect">
            <a:avLst/>
          </a:prstGeom>
          <a:noFill/>
        </p:spPr>
        <p:txBody>
          <a:bodyPr wrap="square" lIns="0" tIns="0" rIns="0" bIns="0">
            <a:spAutoFit/>
          </a:bodyPr>
          <a:lstStyle/>
          <a:p>
            <a:pPr>
              <a:defRPr sz="1000" b="1">
                <a:solidFill>
                  <a:srgbClr val="00E5FF"/>
                </a:solidFill>
                <a:latin typeface="Segoe UI"/>
              </a:defRPr>
            </a:pPr>
            <a:r>
              <a:t>02 // THE DESIGN GAP</a:t>
            </a:r>
          </a:p>
        </p:txBody>
      </p:sp>
      <p:sp>
        <p:nvSpPr>
          <p:cNvPr id="4" name="TextBox 3"/>
          <p:cNvSpPr txBox="1"/>
          <p:nvPr/>
        </p:nvSpPr>
        <p:spPr>
          <a:xfrm>
            <a:off x="731520" y="658368"/>
            <a:ext cx="10698480" cy="430887"/>
          </a:xfrm>
          <a:prstGeom prst="rect">
            <a:avLst/>
          </a:prstGeom>
          <a:noFill/>
        </p:spPr>
        <p:txBody>
          <a:bodyPr wrap="square" lIns="0" tIns="0" rIns="0" bIns="0">
            <a:spAutoFit/>
          </a:bodyPr>
          <a:lstStyle/>
          <a:p>
            <a:pPr>
              <a:defRPr sz="2200" b="1">
                <a:solidFill>
                  <a:srgbClr val="F8FAFC"/>
                </a:solidFill>
                <a:latin typeface="Segoe UI"/>
              </a:defRPr>
            </a:pPr>
            <a:r>
              <a:rPr sz="2800" dirty="0"/>
              <a:t>Why Existing Approaches Leave an Evidentiary Void</a:t>
            </a:r>
          </a:p>
        </p:txBody>
      </p:sp>
      <p:sp>
        <p:nvSpPr>
          <p:cNvPr id="5" name="TextBox 4"/>
          <p:cNvSpPr txBox="1"/>
          <p:nvPr/>
        </p:nvSpPr>
        <p:spPr>
          <a:xfrm>
            <a:off x="731520" y="1243584"/>
            <a:ext cx="10698480" cy="184666"/>
          </a:xfrm>
          <a:prstGeom prst="rect">
            <a:avLst/>
          </a:prstGeom>
          <a:noFill/>
        </p:spPr>
        <p:txBody>
          <a:bodyPr wrap="square" lIns="0" tIns="0" rIns="0" bIns="0">
            <a:spAutoFit/>
          </a:bodyPr>
          <a:lstStyle/>
          <a:p>
            <a:pPr>
              <a:defRPr sz="1100">
                <a:solidFill>
                  <a:srgbClr val="E2E8F0"/>
                </a:solidFill>
                <a:latin typeface="Segoe UI"/>
              </a:defRPr>
            </a:pPr>
            <a:r>
              <a:rPr sz="1200" dirty="0"/>
              <a:t>Current tooling treats testing, network isolation, policy enforcement, and audit logging as disconnected silos.</a:t>
            </a:r>
          </a:p>
        </p:txBody>
      </p:sp>
      <p:sp>
        <p:nvSpPr>
          <p:cNvPr id="6" name="Rounded Rectangle 5"/>
          <p:cNvSpPr/>
          <p:nvPr/>
        </p:nvSpPr>
        <p:spPr>
          <a:xfrm>
            <a:off x="731520" y="1691640"/>
            <a:ext cx="3328416" cy="4160520"/>
          </a:xfrm>
          <a:prstGeom prst="roundRect">
            <a:avLst/>
          </a:prstGeom>
          <a:solidFill>
            <a:srgbClr val="111827"/>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60120" y="1874520"/>
            <a:ext cx="1645920" cy="237744"/>
          </a:xfrm>
          <a:prstGeom prst="round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850" b="1">
                <a:solidFill>
                  <a:srgbClr val="F8FAFC"/>
                </a:solidFill>
                <a:latin typeface="Segoe UI"/>
              </a:defRPr>
            </a:pPr>
            <a:r>
              <a:rPr sz="1000" dirty="0"/>
              <a:t>AD-HOC SCRIPTING</a:t>
            </a:r>
          </a:p>
        </p:txBody>
      </p:sp>
      <p:sp>
        <p:nvSpPr>
          <p:cNvPr id="8" name="TextBox 7"/>
          <p:cNvSpPr txBox="1"/>
          <p:nvPr/>
        </p:nvSpPr>
        <p:spPr>
          <a:xfrm>
            <a:off x="960120" y="2194560"/>
            <a:ext cx="2871216" cy="2790508"/>
          </a:xfrm>
          <a:prstGeom prst="rect">
            <a:avLst/>
          </a:prstGeom>
          <a:noFill/>
        </p:spPr>
        <p:txBody>
          <a:bodyPr wrap="square">
            <a:spAutoFit/>
          </a:bodyPr>
          <a:lstStyle/>
          <a:p>
            <a:pPr>
              <a:spcAft>
                <a:spcPts val="1000"/>
              </a:spcAft>
              <a:defRPr sz="1300" b="1">
                <a:solidFill>
                  <a:srgbClr val="F8FAFC"/>
                </a:solidFill>
                <a:latin typeface="Segoe UI"/>
              </a:defRPr>
            </a:pPr>
            <a:r>
              <a:rPr sz="1600" dirty="0"/>
              <a:t>Uncontrolled / Raw Scripts</a:t>
            </a:r>
          </a:p>
          <a:p>
            <a:pPr>
              <a:spcAft>
                <a:spcPts val="600"/>
              </a:spcAft>
            </a:pPr>
            <a:r>
              <a:rPr sz="1050" b="1" dirty="0">
                <a:solidFill>
                  <a:srgbClr val="F8FAFC"/>
                </a:solidFill>
              </a:rPr>
              <a:t>Environment: </a:t>
            </a:r>
            <a:r>
              <a:rPr sz="1050" b="0" dirty="0">
                <a:solidFill>
                  <a:srgbClr val="E2E8F0"/>
                </a:solidFill>
              </a:rPr>
              <a:t>Local Python scripts, curl, or Jupyter</a:t>
            </a:r>
          </a:p>
          <a:p>
            <a:pPr>
              <a:spcAft>
                <a:spcPts val="600"/>
              </a:spcAft>
            </a:pPr>
            <a:r>
              <a:rPr sz="1050" b="1" dirty="0">
                <a:solidFill>
                  <a:srgbClr val="F8FAFC"/>
                </a:solidFill>
              </a:rPr>
              <a:t>Zone Isolation: </a:t>
            </a:r>
            <a:r>
              <a:rPr sz="1050" b="0" dirty="0">
                <a:solidFill>
                  <a:srgbClr val="E2E8F0"/>
                </a:solidFill>
              </a:rPr>
              <a:t>None: shared host OS &amp; local network</a:t>
            </a:r>
          </a:p>
          <a:p>
            <a:pPr>
              <a:spcAft>
                <a:spcPts val="600"/>
              </a:spcAft>
            </a:pPr>
            <a:r>
              <a:rPr sz="1050" b="1" dirty="0">
                <a:solidFill>
                  <a:srgbClr val="F8FAFC"/>
                </a:solidFill>
              </a:rPr>
              <a:t>Policy Control: </a:t>
            </a:r>
            <a:r>
              <a:rPr sz="1050" b="0" dirty="0">
                <a:solidFill>
                  <a:srgbClr val="E2E8F0"/>
                </a:solidFill>
              </a:rPr>
              <a:t>None: direct socket connections to model</a:t>
            </a:r>
          </a:p>
          <a:p>
            <a:pPr>
              <a:spcAft>
                <a:spcPts val="600"/>
              </a:spcAft>
            </a:pPr>
            <a:r>
              <a:rPr sz="1050" b="1" dirty="0">
                <a:solidFill>
                  <a:srgbClr val="F8FAFC"/>
                </a:solidFill>
              </a:rPr>
              <a:t>Event Visibility: </a:t>
            </a:r>
            <a:r>
              <a:rPr sz="1050" b="0" dirty="0">
                <a:solidFill>
                  <a:srgbClr val="E2E8F0"/>
                </a:solidFill>
              </a:rPr>
              <a:t>Ephemeral </a:t>
            </a:r>
            <a:r>
              <a:rPr sz="1050" b="0" dirty="0" err="1">
                <a:solidFill>
                  <a:srgbClr val="E2E8F0"/>
                </a:solidFill>
              </a:rPr>
              <a:t>stdout</a:t>
            </a:r>
            <a:r>
              <a:rPr sz="1050" b="0" dirty="0">
                <a:solidFill>
                  <a:srgbClr val="E2E8F0"/>
                </a:solidFill>
              </a:rPr>
              <a:t> prints; lost on exit</a:t>
            </a:r>
          </a:p>
          <a:p>
            <a:pPr>
              <a:spcAft>
                <a:spcPts val="600"/>
              </a:spcAft>
            </a:pPr>
            <a:r>
              <a:rPr sz="1050" b="1" dirty="0">
                <a:solidFill>
                  <a:srgbClr val="F8FAFC"/>
                </a:solidFill>
              </a:rPr>
              <a:t>Audit Integrity: </a:t>
            </a:r>
            <a:r>
              <a:rPr sz="1050" b="0" dirty="0">
                <a:solidFill>
                  <a:srgbClr val="E2E8F0"/>
                </a:solidFill>
              </a:rPr>
              <a:t>Non-existent: raw logs are editable text</a:t>
            </a:r>
          </a:p>
          <a:p>
            <a:pPr>
              <a:spcAft>
                <a:spcPts val="600"/>
              </a:spcAft>
            </a:pPr>
            <a:r>
              <a:rPr sz="1050" b="1" dirty="0">
                <a:solidFill>
                  <a:srgbClr val="F8FAFC"/>
                </a:solidFill>
              </a:rPr>
              <a:t>Defensibility: </a:t>
            </a:r>
            <a:r>
              <a:rPr sz="1050" b="0" dirty="0">
                <a:solidFill>
                  <a:srgbClr val="E2E8F0"/>
                </a:solidFill>
              </a:rPr>
              <a:t>Zero proof of what actually occurred</a:t>
            </a:r>
          </a:p>
        </p:txBody>
      </p:sp>
      <p:sp>
        <p:nvSpPr>
          <p:cNvPr id="9" name="Rounded Rectangle 8"/>
          <p:cNvSpPr/>
          <p:nvPr/>
        </p:nvSpPr>
        <p:spPr>
          <a:xfrm>
            <a:off x="4425696" y="1691640"/>
            <a:ext cx="3328416" cy="4160520"/>
          </a:xfrm>
          <a:prstGeom prst="roundRect">
            <a:avLst/>
          </a:prstGeom>
          <a:solidFill>
            <a:srgbClr val="111827"/>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4654296" y="1874520"/>
            <a:ext cx="2011680" cy="237744"/>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850" b="1">
                <a:solidFill>
                  <a:srgbClr val="0A0E17"/>
                </a:solidFill>
                <a:latin typeface="Segoe UI"/>
              </a:defRPr>
            </a:pPr>
            <a:r>
              <a:rPr sz="1000" dirty="0"/>
              <a:t>FRAGMENTED ENTERPRISE</a:t>
            </a:r>
          </a:p>
        </p:txBody>
      </p:sp>
      <p:sp>
        <p:nvSpPr>
          <p:cNvPr id="11" name="TextBox 10"/>
          <p:cNvSpPr txBox="1"/>
          <p:nvPr/>
        </p:nvSpPr>
        <p:spPr>
          <a:xfrm>
            <a:off x="4654296" y="2194560"/>
            <a:ext cx="2871216" cy="3036729"/>
          </a:xfrm>
          <a:prstGeom prst="rect">
            <a:avLst/>
          </a:prstGeom>
          <a:noFill/>
        </p:spPr>
        <p:txBody>
          <a:bodyPr wrap="square">
            <a:spAutoFit/>
          </a:bodyPr>
          <a:lstStyle/>
          <a:p>
            <a:pPr>
              <a:spcAft>
                <a:spcPts val="1000"/>
              </a:spcAft>
              <a:defRPr sz="1300" b="1">
                <a:solidFill>
                  <a:srgbClr val="F8FAFC"/>
                </a:solidFill>
                <a:latin typeface="Segoe UI"/>
              </a:defRPr>
            </a:pPr>
            <a:r>
              <a:rPr sz="1600" dirty="0"/>
              <a:t>Generic Proxies + Heavy SIEMs</a:t>
            </a:r>
          </a:p>
          <a:p>
            <a:pPr>
              <a:spcAft>
                <a:spcPts val="600"/>
              </a:spcAft>
            </a:pPr>
            <a:r>
              <a:rPr sz="1050" b="1" dirty="0">
                <a:solidFill>
                  <a:srgbClr val="F8FAFC"/>
                </a:solidFill>
              </a:rPr>
              <a:t>Environment: </a:t>
            </a:r>
            <a:r>
              <a:rPr sz="1050" b="0" dirty="0">
                <a:solidFill>
                  <a:srgbClr val="E2E8F0"/>
                </a:solidFill>
              </a:rPr>
              <a:t>Complex cloud VPCs with generic proxies</a:t>
            </a:r>
          </a:p>
          <a:p>
            <a:pPr>
              <a:spcAft>
                <a:spcPts val="600"/>
              </a:spcAft>
            </a:pPr>
            <a:r>
              <a:rPr sz="1050" b="1" dirty="0">
                <a:solidFill>
                  <a:srgbClr val="F8FAFC"/>
                </a:solidFill>
              </a:rPr>
              <a:t>Zone Isolation: </a:t>
            </a:r>
            <a:r>
              <a:rPr sz="1050" b="0" dirty="0">
                <a:solidFill>
                  <a:srgbClr val="E2E8F0"/>
                </a:solidFill>
              </a:rPr>
              <a:t>Coarse-grained network security groups</a:t>
            </a:r>
          </a:p>
          <a:p>
            <a:pPr>
              <a:spcAft>
                <a:spcPts val="600"/>
              </a:spcAft>
            </a:pPr>
            <a:r>
              <a:rPr sz="1050" b="1" dirty="0">
                <a:solidFill>
                  <a:srgbClr val="F8FAFC"/>
                </a:solidFill>
              </a:rPr>
              <a:t>Policy Control: </a:t>
            </a:r>
            <a:r>
              <a:rPr sz="1050" b="0" dirty="0">
                <a:solidFill>
                  <a:srgbClr val="E2E8F0"/>
                </a:solidFill>
              </a:rPr>
              <a:t>Generic L7 HTTP rules; blind to AI threats</a:t>
            </a:r>
          </a:p>
          <a:p>
            <a:pPr>
              <a:spcAft>
                <a:spcPts val="600"/>
              </a:spcAft>
            </a:pPr>
            <a:r>
              <a:rPr sz="1050" b="1" dirty="0">
                <a:solidFill>
                  <a:srgbClr val="F8FAFC"/>
                </a:solidFill>
              </a:rPr>
              <a:t>Event Visibility: </a:t>
            </a:r>
            <a:r>
              <a:rPr sz="1050" b="0" dirty="0">
                <a:solidFill>
                  <a:srgbClr val="E2E8F0"/>
                </a:solidFill>
              </a:rPr>
              <a:t>Delayed batch ingestion into cloud SIEMs</a:t>
            </a:r>
          </a:p>
          <a:p>
            <a:pPr>
              <a:spcAft>
                <a:spcPts val="600"/>
              </a:spcAft>
            </a:pPr>
            <a:r>
              <a:rPr sz="1050" b="1" dirty="0">
                <a:solidFill>
                  <a:srgbClr val="F8FAFC"/>
                </a:solidFill>
              </a:rPr>
              <a:t>Audit Integrity: </a:t>
            </a:r>
            <a:r>
              <a:rPr sz="1050" b="0" dirty="0">
                <a:solidFill>
                  <a:srgbClr val="E2E8F0"/>
                </a:solidFill>
              </a:rPr>
              <a:t>Mutable SQL records; vulnerable to root</a:t>
            </a:r>
          </a:p>
          <a:p>
            <a:pPr>
              <a:spcAft>
                <a:spcPts val="600"/>
              </a:spcAft>
            </a:pPr>
            <a:r>
              <a:rPr sz="1050" b="1" dirty="0">
                <a:solidFill>
                  <a:srgbClr val="F8FAFC"/>
                </a:solidFill>
              </a:rPr>
              <a:t>Defensibility: </a:t>
            </a:r>
            <a:r>
              <a:rPr sz="1050" b="0" dirty="0">
                <a:solidFill>
                  <a:srgbClr val="E2E8F0"/>
                </a:solidFill>
              </a:rPr>
              <a:t>High cost; disconnected from AI context</a:t>
            </a:r>
          </a:p>
        </p:txBody>
      </p:sp>
      <p:sp>
        <p:nvSpPr>
          <p:cNvPr id="12" name="Rounded Rectangle 11"/>
          <p:cNvSpPr/>
          <p:nvPr/>
        </p:nvSpPr>
        <p:spPr>
          <a:xfrm>
            <a:off x="8119872" y="1691640"/>
            <a:ext cx="3328416" cy="4160520"/>
          </a:xfrm>
          <a:prstGeom prst="roundRect">
            <a:avLst/>
          </a:prstGeom>
          <a:solidFill>
            <a:srgbClr val="111827"/>
          </a:solidFill>
          <a:ln w="254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8348472" y="1874520"/>
            <a:ext cx="2011680" cy="237744"/>
          </a:xfrm>
          <a:prstGeom prst="round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850" b="1">
                <a:solidFill>
                  <a:srgbClr val="0A0E17"/>
                </a:solidFill>
                <a:latin typeface="Segoe UI"/>
              </a:defRPr>
            </a:pPr>
            <a:r>
              <a:rPr sz="900" dirty="0"/>
              <a:t>SAFEARENA BLUEPRINT</a:t>
            </a:r>
          </a:p>
        </p:txBody>
      </p:sp>
      <p:sp>
        <p:nvSpPr>
          <p:cNvPr id="14" name="TextBox 13"/>
          <p:cNvSpPr txBox="1"/>
          <p:nvPr/>
        </p:nvSpPr>
        <p:spPr>
          <a:xfrm>
            <a:off x="8348472" y="2194560"/>
            <a:ext cx="2871216" cy="2790508"/>
          </a:xfrm>
          <a:prstGeom prst="rect">
            <a:avLst/>
          </a:prstGeom>
          <a:noFill/>
        </p:spPr>
        <p:txBody>
          <a:bodyPr wrap="square">
            <a:spAutoFit/>
          </a:bodyPr>
          <a:lstStyle/>
          <a:p>
            <a:pPr>
              <a:spcAft>
                <a:spcPts val="1000"/>
              </a:spcAft>
              <a:defRPr sz="1300" b="1">
                <a:solidFill>
                  <a:srgbClr val="00E5FF"/>
                </a:solidFill>
                <a:latin typeface="Segoe UI"/>
              </a:defRPr>
            </a:pPr>
            <a:r>
              <a:rPr sz="1600" dirty="0"/>
              <a:t>Unified AI Security Fabric</a:t>
            </a:r>
          </a:p>
          <a:p>
            <a:pPr>
              <a:spcAft>
                <a:spcPts val="600"/>
              </a:spcAft>
            </a:pPr>
            <a:r>
              <a:rPr sz="1050" b="1" dirty="0">
                <a:solidFill>
                  <a:srgbClr val="00E5FF"/>
                </a:solidFill>
              </a:rPr>
              <a:t>Environment: </a:t>
            </a:r>
            <a:r>
              <a:rPr sz="1050" b="1" dirty="0">
                <a:solidFill>
                  <a:srgbClr val="F8FAFC"/>
                </a:solidFill>
              </a:rPr>
              <a:t>Dedicated Red/Blue sandboxes + Gateway</a:t>
            </a:r>
          </a:p>
          <a:p>
            <a:pPr>
              <a:spcAft>
                <a:spcPts val="600"/>
              </a:spcAft>
            </a:pPr>
            <a:r>
              <a:rPr sz="1050" b="1" dirty="0">
                <a:solidFill>
                  <a:srgbClr val="00E5FF"/>
                </a:solidFill>
              </a:rPr>
              <a:t>Zone Isolation: </a:t>
            </a:r>
            <a:r>
              <a:rPr sz="1050" b="1" dirty="0">
                <a:solidFill>
                  <a:srgbClr val="F8FAFC"/>
                </a:solidFill>
              </a:rPr>
              <a:t>Docker internal subnets + dropped caps</a:t>
            </a:r>
          </a:p>
          <a:p>
            <a:pPr>
              <a:spcAft>
                <a:spcPts val="600"/>
              </a:spcAft>
            </a:pPr>
            <a:r>
              <a:rPr sz="1050" b="1" dirty="0">
                <a:solidFill>
                  <a:srgbClr val="00E5FF"/>
                </a:solidFill>
              </a:rPr>
              <a:t>Policy Control: </a:t>
            </a:r>
            <a:r>
              <a:rPr sz="1050" b="1" dirty="0">
                <a:solidFill>
                  <a:srgbClr val="F8FAFC"/>
                </a:solidFill>
              </a:rPr>
              <a:t>Default-deny gateway with AI inspection</a:t>
            </a:r>
          </a:p>
          <a:p>
            <a:pPr>
              <a:spcAft>
                <a:spcPts val="600"/>
              </a:spcAft>
            </a:pPr>
            <a:r>
              <a:rPr sz="1050" b="1" dirty="0">
                <a:solidFill>
                  <a:srgbClr val="00E5FF"/>
                </a:solidFill>
              </a:rPr>
              <a:t>Event Visibility: </a:t>
            </a:r>
            <a:r>
              <a:rPr sz="1050" b="1" dirty="0">
                <a:solidFill>
                  <a:srgbClr val="F8FAFC"/>
                </a:solidFill>
              </a:rPr>
              <a:t>Immediate, structured, severity-rated stream</a:t>
            </a:r>
          </a:p>
          <a:p>
            <a:pPr>
              <a:spcAft>
                <a:spcPts val="600"/>
              </a:spcAft>
            </a:pPr>
            <a:r>
              <a:rPr sz="1050" b="1" dirty="0">
                <a:solidFill>
                  <a:srgbClr val="00E5FF"/>
                </a:solidFill>
              </a:rPr>
              <a:t>Audit Integrity: </a:t>
            </a:r>
            <a:r>
              <a:rPr sz="1050" b="1" dirty="0">
                <a:solidFill>
                  <a:srgbClr val="F8FAFC"/>
                </a:solidFill>
              </a:rPr>
              <a:t>Tamper-evident SHA-256 hash chains</a:t>
            </a:r>
          </a:p>
          <a:p>
            <a:pPr>
              <a:spcAft>
                <a:spcPts val="600"/>
              </a:spcAft>
            </a:pPr>
            <a:r>
              <a:rPr sz="1050" b="1" dirty="0">
                <a:solidFill>
                  <a:srgbClr val="00E5FF"/>
                </a:solidFill>
              </a:rPr>
              <a:t>Defensibility: </a:t>
            </a:r>
            <a:r>
              <a:rPr sz="1050" b="1" dirty="0">
                <a:solidFill>
                  <a:srgbClr val="F8FAFC"/>
                </a:solidFill>
              </a:rPr>
              <a:t>Mathematically verifiable audit proof</a:t>
            </a:r>
          </a:p>
        </p:txBody>
      </p:sp>
      <p:sp>
        <p:nvSpPr>
          <p:cNvPr id="15" name="Rounded Rectangle 14"/>
          <p:cNvSpPr/>
          <p:nvPr/>
        </p:nvSpPr>
        <p:spPr>
          <a:xfrm>
            <a:off x="731520" y="5989320"/>
            <a:ext cx="10716768" cy="457200"/>
          </a:xfrm>
          <a:prstGeom prst="roundRect">
            <a:avLst/>
          </a:prstGeom>
          <a:solidFill>
            <a:srgbClr val="182135"/>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14400" y="6035040"/>
            <a:ext cx="10332720" cy="253916"/>
          </a:xfrm>
          <a:prstGeom prst="rect">
            <a:avLst/>
          </a:prstGeom>
          <a:noFill/>
        </p:spPr>
        <p:txBody>
          <a:bodyPr wrap="square">
            <a:spAutoFit/>
          </a:bodyPr>
          <a:lstStyle/>
          <a:p>
            <a:pPr>
              <a:defRPr sz="950" b="1">
                <a:solidFill>
                  <a:srgbClr val="00E5FF"/>
                </a:solidFill>
                <a:latin typeface="Segoe UI"/>
              </a:defRPr>
            </a:pPr>
            <a:r>
              <a:rPr sz="1050" dirty="0"/>
              <a:t>THE TAKEAWAY: </a:t>
            </a:r>
            <a:r>
              <a:rPr sz="1050" dirty="0" err="1"/>
              <a:t>SafeArena</a:t>
            </a:r>
            <a:r>
              <a:rPr sz="1050" dirty="0"/>
              <a:t> is not just a testing script or a generic firewall; it is an integrated, auditable security fabric.</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84048"/>
            <a:ext cx="10515600" cy="256032"/>
          </a:xfrm>
          <a:prstGeom prst="rect">
            <a:avLst/>
          </a:prstGeom>
          <a:noFill/>
        </p:spPr>
        <p:txBody>
          <a:bodyPr wrap="square" lIns="0" tIns="0" rIns="0" bIns="0">
            <a:spAutoFit/>
          </a:bodyPr>
          <a:lstStyle/>
          <a:p>
            <a:pPr>
              <a:defRPr sz="1000" b="1">
                <a:solidFill>
                  <a:srgbClr val="00E5FF"/>
                </a:solidFill>
                <a:latin typeface="Segoe UI"/>
              </a:defRPr>
            </a:pPr>
            <a:r>
              <a:t>03 // ARCHITECTURAL PILLARS</a:t>
            </a:r>
          </a:p>
        </p:txBody>
      </p:sp>
      <p:sp>
        <p:nvSpPr>
          <p:cNvPr id="4" name="TextBox 3"/>
          <p:cNvSpPr txBox="1"/>
          <p:nvPr/>
        </p:nvSpPr>
        <p:spPr>
          <a:xfrm>
            <a:off x="731520" y="658368"/>
            <a:ext cx="10698480" cy="369332"/>
          </a:xfrm>
          <a:prstGeom prst="rect">
            <a:avLst/>
          </a:prstGeom>
          <a:noFill/>
        </p:spPr>
        <p:txBody>
          <a:bodyPr wrap="square" lIns="0" tIns="0" rIns="0" bIns="0">
            <a:spAutoFit/>
          </a:bodyPr>
          <a:lstStyle/>
          <a:p>
            <a:pPr>
              <a:defRPr sz="2200" b="1">
                <a:solidFill>
                  <a:srgbClr val="F8FAFC"/>
                </a:solidFill>
                <a:latin typeface="Segoe UI"/>
              </a:defRPr>
            </a:pPr>
            <a:r>
              <a:rPr sz="2400" dirty="0"/>
              <a:t>The </a:t>
            </a:r>
            <a:r>
              <a:rPr sz="2400" dirty="0" err="1"/>
              <a:t>SafeArena</a:t>
            </a:r>
            <a:r>
              <a:rPr sz="2400" dirty="0"/>
              <a:t> Framework: One Integrated Workflow</a:t>
            </a:r>
          </a:p>
        </p:txBody>
      </p:sp>
      <p:sp>
        <p:nvSpPr>
          <p:cNvPr id="5" name="TextBox 4"/>
          <p:cNvSpPr txBox="1"/>
          <p:nvPr/>
        </p:nvSpPr>
        <p:spPr>
          <a:xfrm>
            <a:off x="731520" y="1243584"/>
            <a:ext cx="10698480" cy="292608"/>
          </a:xfrm>
          <a:prstGeom prst="rect">
            <a:avLst/>
          </a:prstGeom>
          <a:noFill/>
        </p:spPr>
        <p:txBody>
          <a:bodyPr wrap="square" lIns="0" tIns="0" rIns="0" bIns="0">
            <a:spAutoFit/>
          </a:bodyPr>
          <a:lstStyle/>
          <a:p>
            <a:pPr>
              <a:defRPr sz="1100">
                <a:solidFill>
                  <a:srgbClr val="E2E8F0"/>
                </a:solidFill>
                <a:latin typeface="Segoe UI"/>
              </a:defRPr>
            </a:pPr>
            <a:r>
              <a:t>A closed-loop security architecture designed to isolate testing, control access, detect threats, and prove integrity.</a:t>
            </a:r>
          </a:p>
        </p:txBody>
      </p:sp>
      <p:sp>
        <p:nvSpPr>
          <p:cNvPr id="6" name="Rounded Rectangle 5"/>
          <p:cNvSpPr/>
          <p:nvPr/>
        </p:nvSpPr>
        <p:spPr>
          <a:xfrm>
            <a:off x="731520" y="1691640"/>
            <a:ext cx="2450592" cy="4297680"/>
          </a:xfrm>
          <a:prstGeom prst="roundRect">
            <a:avLst/>
          </a:prstGeom>
          <a:solidFill>
            <a:srgbClr val="111827"/>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14400" y="1874520"/>
            <a:ext cx="1097280" cy="256032"/>
          </a:xfrm>
          <a:prstGeom prst="round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900" b="1">
                <a:solidFill>
                  <a:srgbClr val="F8FAFC"/>
                </a:solidFill>
                <a:latin typeface="Segoe UI"/>
              </a:defRPr>
            </a:pPr>
            <a:r>
              <a:rPr sz="1000" dirty="0"/>
              <a:t>1. ISOLATE</a:t>
            </a:r>
          </a:p>
        </p:txBody>
      </p:sp>
      <p:sp>
        <p:nvSpPr>
          <p:cNvPr id="8" name="Rounded Rectangle 7"/>
          <p:cNvSpPr/>
          <p:nvPr/>
        </p:nvSpPr>
        <p:spPr>
          <a:xfrm>
            <a:off x="914400" y="2194560"/>
            <a:ext cx="1645920" cy="201168"/>
          </a:xfrm>
          <a:prstGeom prst="round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800" b="1">
                <a:solidFill>
                  <a:srgbClr val="3B82F6"/>
                </a:solidFill>
                <a:latin typeface="Segoe UI"/>
              </a:defRPr>
            </a:pPr>
            <a:r>
              <a:rPr sz="900" dirty="0"/>
              <a:t>ZONE SEGREGATION</a:t>
            </a:r>
          </a:p>
        </p:txBody>
      </p:sp>
      <p:sp>
        <p:nvSpPr>
          <p:cNvPr id="9" name="TextBox 8"/>
          <p:cNvSpPr txBox="1"/>
          <p:nvPr/>
        </p:nvSpPr>
        <p:spPr>
          <a:xfrm>
            <a:off x="914400" y="2468880"/>
            <a:ext cx="2084831" cy="3280385"/>
          </a:xfrm>
          <a:prstGeom prst="rect">
            <a:avLst/>
          </a:prstGeom>
          <a:noFill/>
        </p:spPr>
        <p:txBody>
          <a:bodyPr wrap="square">
            <a:spAutoFit/>
          </a:bodyPr>
          <a:lstStyle/>
          <a:p>
            <a:pPr>
              <a:spcAft>
                <a:spcPts val="800"/>
              </a:spcAft>
              <a:defRPr sz="1100" b="1">
                <a:solidFill>
                  <a:srgbClr val="F8FAFC"/>
                </a:solidFill>
                <a:latin typeface="Segoe UI"/>
              </a:defRPr>
            </a:pPr>
            <a:r>
              <a:rPr sz="1400" dirty="0"/>
              <a:t>Physical &amp; Logical Zone Containment</a:t>
            </a:r>
          </a:p>
          <a:p>
            <a:pPr>
              <a:spcAft>
                <a:spcPts val="500"/>
              </a:spcAft>
              <a:defRPr sz="850">
                <a:solidFill>
                  <a:srgbClr val="E2E8F0"/>
                </a:solidFill>
                <a:latin typeface="Segoe UI"/>
              </a:defRPr>
            </a:pPr>
            <a:r>
              <a:rPr sz="1000" dirty="0"/>
              <a:t>• Red Sandbox (adversarial testing) and Blue Sandbox (defensive state) exist in completely separate zones.</a:t>
            </a:r>
          </a:p>
          <a:p>
            <a:pPr>
              <a:spcAft>
                <a:spcPts val="500"/>
              </a:spcAft>
              <a:defRPr sz="850">
                <a:solidFill>
                  <a:srgbClr val="E2E8F0"/>
                </a:solidFill>
                <a:latin typeface="Segoe UI"/>
              </a:defRPr>
            </a:pPr>
            <a:r>
              <a:rPr sz="1000" dirty="0"/>
              <a:t>• In Docker mode, each zone is bound to an isolated bridge network (</a:t>
            </a:r>
            <a:r>
              <a:rPr sz="1000" dirty="0" err="1"/>
              <a:t>red_net</a:t>
            </a:r>
            <a:r>
              <a:rPr sz="1000" dirty="0"/>
              <a:t>, </a:t>
            </a:r>
            <a:r>
              <a:rPr sz="1000" dirty="0" err="1"/>
              <a:t>blue_net</a:t>
            </a:r>
            <a:r>
              <a:rPr sz="1000" dirty="0"/>
              <a:t>, </a:t>
            </a:r>
            <a:r>
              <a:rPr sz="1000" dirty="0" err="1"/>
              <a:t>llm_net</a:t>
            </a:r>
            <a:r>
              <a:rPr sz="1000" dirty="0"/>
              <a:t>).</a:t>
            </a:r>
          </a:p>
          <a:p>
            <a:pPr>
              <a:spcAft>
                <a:spcPts val="500"/>
              </a:spcAft>
              <a:defRPr sz="850">
                <a:solidFill>
                  <a:srgbClr val="E2E8F0"/>
                </a:solidFill>
                <a:latin typeface="Segoe UI"/>
              </a:defRPr>
            </a:pPr>
            <a:r>
              <a:rPr sz="1000" dirty="0"/>
              <a:t>• Networks configured with internal: true (no direct cross-zone routing and no public internet route).</a:t>
            </a:r>
          </a:p>
          <a:p>
            <a:pPr>
              <a:spcAft>
                <a:spcPts val="500"/>
              </a:spcAft>
              <a:defRPr sz="850">
                <a:solidFill>
                  <a:srgbClr val="E2E8F0"/>
                </a:solidFill>
                <a:latin typeface="Segoe UI"/>
              </a:defRPr>
            </a:pPr>
            <a:r>
              <a:rPr sz="1000" dirty="0"/>
              <a:t>• Container hardening: read-only root filesystems, dropped capabilities (</a:t>
            </a:r>
            <a:r>
              <a:rPr sz="1000" dirty="0" err="1"/>
              <a:t>cap_drop</a:t>
            </a:r>
            <a:r>
              <a:rPr sz="1000" dirty="0"/>
              <a:t>: ALL), unprivileged user.</a:t>
            </a:r>
          </a:p>
        </p:txBody>
      </p:sp>
      <p:sp>
        <p:nvSpPr>
          <p:cNvPr id="10" name="Rounded Rectangle 9"/>
          <p:cNvSpPr/>
          <p:nvPr/>
        </p:nvSpPr>
        <p:spPr>
          <a:xfrm>
            <a:off x="3483864" y="1691640"/>
            <a:ext cx="2450592" cy="4297680"/>
          </a:xfrm>
          <a:prstGeom prst="roundRect">
            <a:avLst/>
          </a:prstGeom>
          <a:solidFill>
            <a:srgbClr val="111827"/>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3666744" y="1874520"/>
            <a:ext cx="1097280" cy="256032"/>
          </a:xfrm>
          <a:prstGeom prst="round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900" b="1">
                <a:solidFill>
                  <a:srgbClr val="0A0E17"/>
                </a:solidFill>
                <a:latin typeface="Segoe UI"/>
              </a:defRPr>
            </a:pPr>
            <a:r>
              <a:t>2. CONTROL</a:t>
            </a:r>
          </a:p>
        </p:txBody>
      </p:sp>
      <p:sp>
        <p:nvSpPr>
          <p:cNvPr id="12" name="Rounded Rectangle 11"/>
          <p:cNvSpPr/>
          <p:nvPr/>
        </p:nvSpPr>
        <p:spPr>
          <a:xfrm>
            <a:off x="3666744" y="2194560"/>
            <a:ext cx="1828800" cy="201168"/>
          </a:xfrm>
          <a:prstGeom prst="round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800" b="1">
                <a:solidFill>
                  <a:srgbClr val="00E5FF"/>
                </a:solidFill>
                <a:latin typeface="Segoe UI"/>
              </a:defRPr>
            </a:pPr>
            <a:r>
              <a:rPr sz="900" dirty="0"/>
              <a:t>SECURITY GATEWAY</a:t>
            </a:r>
          </a:p>
        </p:txBody>
      </p:sp>
      <p:sp>
        <p:nvSpPr>
          <p:cNvPr id="13" name="TextBox 12"/>
          <p:cNvSpPr txBox="1"/>
          <p:nvPr/>
        </p:nvSpPr>
        <p:spPr>
          <a:xfrm>
            <a:off x="3666744" y="2468880"/>
            <a:ext cx="2084831" cy="3190617"/>
          </a:xfrm>
          <a:prstGeom prst="rect">
            <a:avLst/>
          </a:prstGeom>
          <a:noFill/>
        </p:spPr>
        <p:txBody>
          <a:bodyPr wrap="square">
            <a:spAutoFit/>
          </a:bodyPr>
          <a:lstStyle/>
          <a:p>
            <a:pPr>
              <a:spcAft>
                <a:spcPts val="800"/>
              </a:spcAft>
              <a:defRPr sz="1100" b="1">
                <a:solidFill>
                  <a:srgbClr val="F8FAFC"/>
                </a:solidFill>
                <a:latin typeface="Segoe UI"/>
              </a:defRPr>
            </a:pPr>
            <a:r>
              <a:rPr sz="1400" dirty="0"/>
              <a:t>Default-Deny Policy Enforcement</a:t>
            </a:r>
          </a:p>
          <a:p>
            <a:pPr>
              <a:spcAft>
                <a:spcPts val="500"/>
              </a:spcAft>
              <a:defRPr sz="850">
                <a:solidFill>
                  <a:srgbClr val="E2E8F0"/>
                </a:solidFill>
                <a:latin typeface="Segoe UI"/>
              </a:defRPr>
            </a:pPr>
            <a:r>
              <a:rPr sz="1000" dirty="0"/>
              <a:t>• The Security Gateway is the only entity attached to all zone networks; direct bypass is impossible.</a:t>
            </a:r>
          </a:p>
          <a:p>
            <a:pPr>
              <a:spcAft>
                <a:spcPts val="500"/>
              </a:spcAft>
              <a:defRPr sz="850">
                <a:solidFill>
                  <a:srgbClr val="E2E8F0"/>
                </a:solidFill>
                <a:latin typeface="Segoe UI"/>
              </a:defRPr>
            </a:pPr>
            <a:r>
              <a:rPr sz="1000" dirty="0"/>
              <a:t>• Strict default-deny policy: anything not explicitly authorized is blocked immediately.</a:t>
            </a:r>
          </a:p>
          <a:p>
            <a:pPr>
              <a:spcAft>
                <a:spcPts val="500"/>
              </a:spcAft>
              <a:defRPr sz="850">
                <a:solidFill>
                  <a:srgbClr val="E2E8F0"/>
                </a:solidFill>
                <a:latin typeface="Segoe UI"/>
              </a:defRPr>
            </a:pPr>
            <a:r>
              <a:rPr sz="1000" dirty="0"/>
              <a:t>• Authorized: Red → LLM (ALLOW), Blue → LLM (ALLOW).</a:t>
            </a:r>
          </a:p>
          <a:p>
            <a:pPr>
              <a:spcAft>
                <a:spcPts val="500"/>
              </a:spcAft>
              <a:defRPr sz="850">
                <a:solidFill>
                  <a:srgbClr val="E2E8F0"/>
                </a:solidFill>
                <a:latin typeface="Segoe UI"/>
              </a:defRPr>
            </a:pPr>
            <a:r>
              <a:rPr sz="1000" dirty="0"/>
              <a:t>• Unauthorized: Red → Blue (DENY 403), Blue → Red (DENY 403).</a:t>
            </a:r>
          </a:p>
          <a:p>
            <a:pPr>
              <a:spcAft>
                <a:spcPts val="500"/>
              </a:spcAft>
              <a:defRPr sz="850">
                <a:solidFill>
                  <a:srgbClr val="E2E8F0"/>
                </a:solidFill>
                <a:latin typeface="Segoe UI"/>
              </a:defRPr>
            </a:pPr>
            <a:r>
              <a:rPr sz="1000" dirty="0"/>
              <a:t>• Blocked requests are dropped at the gateway; payloads never touch the target destination.</a:t>
            </a:r>
          </a:p>
        </p:txBody>
      </p:sp>
      <p:sp>
        <p:nvSpPr>
          <p:cNvPr id="14" name="Rounded Rectangle 13"/>
          <p:cNvSpPr/>
          <p:nvPr/>
        </p:nvSpPr>
        <p:spPr>
          <a:xfrm>
            <a:off x="6236208" y="1691640"/>
            <a:ext cx="2450592" cy="4297680"/>
          </a:xfrm>
          <a:prstGeom prst="roundRect">
            <a:avLst/>
          </a:prstGeom>
          <a:solidFill>
            <a:srgbClr val="111827"/>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6419088" y="1874520"/>
            <a:ext cx="1097280" cy="256032"/>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900" b="1">
                <a:solidFill>
                  <a:srgbClr val="0A0E17"/>
                </a:solidFill>
                <a:latin typeface="Segoe UI"/>
              </a:defRPr>
            </a:pPr>
            <a:r>
              <a:rPr sz="1000" dirty="0"/>
              <a:t>3. DETECT</a:t>
            </a:r>
          </a:p>
        </p:txBody>
      </p:sp>
      <p:sp>
        <p:nvSpPr>
          <p:cNvPr id="16" name="Rounded Rectangle 15"/>
          <p:cNvSpPr/>
          <p:nvPr/>
        </p:nvSpPr>
        <p:spPr>
          <a:xfrm>
            <a:off x="6419088" y="2194560"/>
            <a:ext cx="1737360" cy="201168"/>
          </a:xfrm>
          <a:prstGeom prst="round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800" b="1">
                <a:solidFill>
                  <a:srgbClr val="F59E0B"/>
                </a:solidFill>
                <a:latin typeface="Segoe UI"/>
              </a:defRPr>
            </a:pPr>
            <a:r>
              <a:rPr sz="900" dirty="0"/>
              <a:t>EVENT TELEMETRY</a:t>
            </a:r>
          </a:p>
        </p:txBody>
      </p:sp>
      <p:sp>
        <p:nvSpPr>
          <p:cNvPr id="17" name="TextBox 16"/>
          <p:cNvSpPr txBox="1"/>
          <p:nvPr/>
        </p:nvSpPr>
        <p:spPr>
          <a:xfrm>
            <a:off x="6419088" y="2468880"/>
            <a:ext cx="2084831" cy="2972609"/>
          </a:xfrm>
          <a:prstGeom prst="rect">
            <a:avLst/>
          </a:prstGeom>
          <a:noFill/>
        </p:spPr>
        <p:txBody>
          <a:bodyPr wrap="square">
            <a:spAutoFit/>
          </a:bodyPr>
          <a:lstStyle/>
          <a:p>
            <a:pPr>
              <a:spcAft>
                <a:spcPts val="800"/>
              </a:spcAft>
              <a:defRPr sz="1100" b="1">
                <a:solidFill>
                  <a:srgbClr val="F8FAFC"/>
                </a:solidFill>
                <a:latin typeface="Segoe UI"/>
              </a:defRPr>
            </a:pPr>
            <a:r>
              <a:rPr sz="1400" dirty="0"/>
              <a:t>Severity-Rated Security Events</a:t>
            </a:r>
          </a:p>
          <a:p>
            <a:pPr>
              <a:spcAft>
                <a:spcPts val="500"/>
              </a:spcAft>
              <a:defRPr sz="850">
                <a:solidFill>
                  <a:srgbClr val="E2E8F0"/>
                </a:solidFill>
                <a:latin typeface="Segoe UI"/>
              </a:defRPr>
            </a:pPr>
            <a:r>
              <a:rPr sz="1000" dirty="0"/>
              <a:t>• Every decision produces a structured security event persisted to SQLite (</a:t>
            </a:r>
            <a:r>
              <a:rPr sz="1000" dirty="0" err="1"/>
              <a:t>events.db</a:t>
            </a:r>
            <a:r>
              <a:rPr sz="1000" dirty="0"/>
              <a:t>).</a:t>
            </a:r>
          </a:p>
          <a:p>
            <a:pPr>
              <a:spcAft>
                <a:spcPts val="500"/>
              </a:spcAft>
              <a:defRPr sz="850">
                <a:solidFill>
                  <a:srgbClr val="E2E8F0"/>
                </a:solidFill>
                <a:latin typeface="Segoe UI"/>
              </a:defRPr>
            </a:pPr>
            <a:r>
              <a:rPr sz="1000" dirty="0"/>
              <a:t>• Granular severity ratings: INFO (normal allowed calls), MEDIUM (injection heuristic hit), HIGH (policy violation), CRITICAL (canary leak).</a:t>
            </a:r>
          </a:p>
          <a:p>
            <a:pPr>
              <a:spcAft>
                <a:spcPts val="500"/>
              </a:spcAft>
              <a:defRPr sz="850">
                <a:solidFill>
                  <a:srgbClr val="E2E8F0"/>
                </a:solidFill>
                <a:latin typeface="Segoe UI"/>
              </a:defRPr>
            </a:pPr>
            <a:r>
              <a:rPr sz="1000" dirty="0"/>
              <a:t>• Regex heuristics detect adversarial prompt patterns and inspect model refusal states.</a:t>
            </a:r>
          </a:p>
          <a:p>
            <a:pPr>
              <a:spcAft>
                <a:spcPts val="500"/>
              </a:spcAft>
              <a:defRPr sz="850">
                <a:solidFill>
                  <a:srgbClr val="E2E8F0"/>
                </a:solidFill>
                <a:latin typeface="Segoe UI"/>
              </a:defRPr>
            </a:pPr>
            <a:r>
              <a:rPr sz="1000" dirty="0"/>
              <a:t>• Live operator console offers instant multi-parameter filtering and full-text search.</a:t>
            </a:r>
          </a:p>
        </p:txBody>
      </p:sp>
      <p:sp>
        <p:nvSpPr>
          <p:cNvPr id="18" name="Rounded Rectangle 17"/>
          <p:cNvSpPr/>
          <p:nvPr/>
        </p:nvSpPr>
        <p:spPr>
          <a:xfrm>
            <a:off x="8988552" y="1691640"/>
            <a:ext cx="2450592" cy="4297680"/>
          </a:xfrm>
          <a:prstGeom prst="roundRect">
            <a:avLst/>
          </a:prstGeom>
          <a:solidFill>
            <a:srgbClr val="111827"/>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9171432" y="1874520"/>
            <a:ext cx="1097280" cy="256032"/>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900" b="1">
                <a:solidFill>
                  <a:srgbClr val="0A0E17"/>
                </a:solidFill>
                <a:latin typeface="Segoe UI"/>
              </a:defRPr>
            </a:pPr>
            <a:r>
              <a:rPr sz="1000" dirty="0"/>
              <a:t>4. PROVE</a:t>
            </a:r>
          </a:p>
        </p:txBody>
      </p:sp>
      <p:sp>
        <p:nvSpPr>
          <p:cNvPr id="20" name="Rounded Rectangle 19"/>
          <p:cNvSpPr/>
          <p:nvPr/>
        </p:nvSpPr>
        <p:spPr>
          <a:xfrm>
            <a:off x="9171432" y="2194560"/>
            <a:ext cx="1737360" cy="201168"/>
          </a:xfrm>
          <a:prstGeom prst="round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800" b="1">
                <a:solidFill>
                  <a:srgbClr val="10B981"/>
                </a:solidFill>
                <a:latin typeface="Segoe UI"/>
              </a:defRPr>
            </a:pPr>
            <a:r>
              <a:rPr sz="900" dirty="0"/>
              <a:t>SHA-256 AUDIT LEDGER</a:t>
            </a:r>
          </a:p>
        </p:txBody>
      </p:sp>
      <p:sp>
        <p:nvSpPr>
          <p:cNvPr id="21" name="TextBox 20"/>
          <p:cNvSpPr txBox="1"/>
          <p:nvPr/>
        </p:nvSpPr>
        <p:spPr>
          <a:xfrm>
            <a:off x="9171432" y="2468880"/>
            <a:ext cx="2084831" cy="3126497"/>
          </a:xfrm>
          <a:prstGeom prst="rect">
            <a:avLst/>
          </a:prstGeom>
          <a:noFill/>
        </p:spPr>
        <p:txBody>
          <a:bodyPr wrap="square">
            <a:spAutoFit/>
          </a:bodyPr>
          <a:lstStyle/>
          <a:p>
            <a:pPr>
              <a:spcAft>
                <a:spcPts val="800"/>
              </a:spcAft>
              <a:defRPr sz="1100" b="1">
                <a:solidFill>
                  <a:srgbClr val="F8FAFC"/>
                </a:solidFill>
                <a:latin typeface="Segoe UI"/>
              </a:defRPr>
            </a:pPr>
            <a:r>
              <a:rPr sz="1400" dirty="0"/>
              <a:t>Tamper-Evident Hash Chaining</a:t>
            </a:r>
          </a:p>
          <a:p>
            <a:pPr>
              <a:spcAft>
                <a:spcPts val="500"/>
              </a:spcAft>
              <a:defRPr sz="850">
                <a:solidFill>
                  <a:srgbClr val="E2E8F0"/>
                </a:solidFill>
                <a:latin typeface="Segoe UI"/>
              </a:defRPr>
            </a:pPr>
            <a:r>
              <a:rPr sz="1000" dirty="0"/>
              <a:t>• Every request is cryptographically appended to an immutable JSONL audit ledger (</a:t>
            </a:r>
            <a:r>
              <a:rPr sz="1000" dirty="0" err="1"/>
              <a:t>audit_log.jsonl</a:t>
            </a:r>
            <a:r>
              <a:rPr sz="1000" dirty="0"/>
              <a:t>).</a:t>
            </a:r>
          </a:p>
          <a:p>
            <a:pPr>
              <a:spcAft>
                <a:spcPts val="500"/>
              </a:spcAft>
              <a:defRPr sz="850">
                <a:solidFill>
                  <a:srgbClr val="E2E8F0"/>
                </a:solidFill>
                <a:latin typeface="Segoe UI"/>
              </a:defRPr>
            </a:pPr>
            <a:r>
              <a:rPr sz="1000" dirty="0"/>
              <a:t>• Record N embeds the SHA-256 digest of Record N-1, creating an unbroken mathematical chain from GENESIS.</a:t>
            </a:r>
          </a:p>
          <a:p>
            <a:pPr>
              <a:spcAft>
                <a:spcPts val="500"/>
              </a:spcAft>
              <a:defRPr sz="850">
                <a:solidFill>
                  <a:srgbClr val="E2E8F0"/>
                </a:solidFill>
                <a:latin typeface="Segoe UI"/>
              </a:defRPr>
            </a:pPr>
            <a:r>
              <a:rPr sz="1000" dirty="0"/>
              <a:t>• A separate head checkpoint (_</a:t>
            </a:r>
            <a:r>
              <a:rPr sz="1000" dirty="0" err="1"/>
              <a:t>head.json</a:t>
            </a:r>
            <a:r>
              <a:rPr sz="1000" dirty="0"/>
              <a:t>) detects tail truncation and record deletions.</a:t>
            </a:r>
          </a:p>
          <a:p>
            <a:pPr>
              <a:spcAft>
                <a:spcPts val="500"/>
              </a:spcAft>
              <a:defRPr sz="850">
                <a:solidFill>
                  <a:srgbClr val="E2E8F0"/>
                </a:solidFill>
                <a:latin typeface="Segoe UI"/>
              </a:defRPr>
            </a:pPr>
            <a:r>
              <a:rPr sz="1000" dirty="0"/>
              <a:t>• Single-click verification recalculates every hash in milliseconds; proven against 7 corruption scenarios.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84048"/>
            <a:ext cx="10515600" cy="256032"/>
          </a:xfrm>
          <a:prstGeom prst="rect">
            <a:avLst/>
          </a:prstGeom>
          <a:noFill/>
        </p:spPr>
        <p:txBody>
          <a:bodyPr wrap="square" lIns="0" tIns="0" rIns="0" bIns="0">
            <a:spAutoFit/>
          </a:bodyPr>
          <a:lstStyle/>
          <a:p>
            <a:pPr>
              <a:defRPr sz="1000" b="1">
                <a:solidFill>
                  <a:srgbClr val="00E5FF"/>
                </a:solidFill>
                <a:latin typeface="Segoe UI"/>
              </a:defRPr>
            </a:pPr>
            <a:r>
              <a:t>04 // DEFENSE-IN-DEPTH TOPOLOGY</a:t>
            </a:r>
          </a:p>
        </p:txBody>
      </p:sp>
      <p:sp>
        <p:nvSpPr>
          <p:cNvPr id="4" name="TextBox 3"/>
          <p:cNvSpPr txBox="1"/>
          <p:nvPr/>
        </p:nvSpPr>
        <p:spPr>
          <a:xfrm>
            <a:off x="731520" y="658368"/>
            <a:ext cx="10698480" cy="566928"/>
          </a:xfrm>
          <a:prstGeom prst="rect">
            <a:avLst/>
          </a:prstGeom>
          <a:noFill/>
        </p:spPr>
        <p:txBody>
          <a:bodyPr wrap="square" lIns="0" tIns="0" rIns="0" bIns="0">
            <a:spAutoFit/>
          </a:bodyPr>
          <a:lstStyle/>
          <a:p>
            <a:pPr>
              <a:defRPr sz="2200" b="1">
                <a:solidFill>
                  <a:srgbClr val="F8FAFC"/>
                </a:solidFill>
                <a:latin typeface="Segoe UI"/>
              </a:defRPr>
            </a:pPr>
            <a:r>
              <a:t>SafeArena System Architecture &amp; Gateway Mediation</a:t>
            </a:r>
          </a:p>
        </p:txBody>
      </p:sp>
      <p:sp>
        <p:nvSpPr>
          <p:cNvPr id="5" name="TextBox 4"/>
          <p:cNvSpPr txBox="1"/>
          <p:nvPr/>
        </p:nvSpPr>
        <p:spPr>
          <a:xfrm>
            <a:off x="731520" y="1243584"/>
            <a:ext cx="10698480" cy="292608"/>
          </a:xfrm>
          <a:prstGeom prst="rect">
            <a:avLst/>
          </a:prstGeom>
          <a:noFill/>
        </p:spPr>
        <p:txBody>
          <a:bodyPr wrap="square" lIns="0" tIns="0" rIns="0" bIns="0">
            <a:spAutoFit/>
          </a:bodyPr>
          <a:lstStyle/>
          <a:p>
            <a:pPr>
              <a:defRPr sz="1100">
                <a:solidFill>
                  <a:srgbClr val="E2E8F0"/>
                </a:solidFill>
                <a:latin typeface="Segoe UI"/>
              </a:defRPr>
            </a:pPr>
            <a:r>
              <a:t>Strict gateway mediation guarantees that adversarial testing is contained while unauthorized paths are blocked.</a:t>
            </a:r>
          </a:p>
        </p:txBody>
      </p:sp>
      <p:sp>
        <p:nvSpPr>
          <p:cNvPr id="6" name="Rounded Rectangle 5"/>
          <p:cNvSpPr/>
          <p:nvPr/>
        </p:nvSpPr>
        <p:spPr>
          <a:xfrm>
            <a:off x="3108960" y="1691640"/>
            <a:ext cx="3108960" cy="960120"/>
          </a:xfrm>
          <a:prstGeom prst="roundRect">
            <a:avLst/>
          </a:prstGeom>
          <a:solidFill>
            <a:srgbClr val="182135"/>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3246120" y="1783080"/>
            <a:ext cx="1280160" cy="219456"/>
          </a:xfrm>
          <a:prstGeom prst="round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800" b="1">
                <a:solidFill>
                  <a:srgbClr val="F8FAFC"/>
                </a:solidFill>
                <a:latin typeface="Segoe UI"/>
              </a:defRPr>
            </a:pPr>
            <a:r>
              <a:rPr sz="900" dirty="0"/>
              <a:t>CLIENT LLM ZONE</a:t>
            </a:r>
          </a:p>
        </p:txBody>
      </p:sp>
      <p:sp>
        <p:nvSpPr>
          <p:cNvPr id="8" name="Rounded Rectangle 7"/>
          <p:cNvSpPr/>
          <p:nvPr/>
        </p:nvSpPr>
        <p:spPr>
          <a:xfrm>
            <a:off x="4617720" y="1783080"/>
            <a:ext cx="1371600" cy="219456"/>
          </a:xfrm>
          <a:prstGeom prst="round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750" b="1">
                <a:solidFill>
                  <a:srgbClr val="94A3B8"/>
                </a:solidFill>
                <a:latin typeface="Segoe UI"/>
              </a:defRPr>
            </a:pPr>
            <a:r>
              <a:t>llm_net: internal</a:t>
            </a:r>
          </a:p>
        </p:txBody>
      </p:sp>
      <p:sp>
        <p:nvSpPr>
          <p:cNvPr id="9" name="TextBox 8"/>
          <p:cNvSpPr txBox="1"/>
          <p:nvPr/>
        </p:nvSpPr>
        <p:spPr>
          <a:xfrm>
            <a:off x="3246120" y="2029968"/>
            <a:ext cx="2849880" cy="400110"/>
          </a:xfrm>
          <a:prstGeom prst="rect">
            <a:avLst/>
          </a:prstGeom>
          <a:noFill/>
        </p:spPr>
        <p:txBody>
          <a:bodyPr wrap="square">
            <a:spAutoFit/>
          </a:bodyPr>
          <a:lstStyle/>
          <a:p>
            <a:pPr>
              <a:defRPr sz="850">
                <a:solidFill>
                  <a:srgbClr val="F8FAFC"/>
                </a:solidFill>
                <a:latin typeface="Segoe UI"/>
              </a:defRPr>
            </a:pPr>
            <a:r>
              <a:rPr sz="1000" dirty="0"/>
              <a:t>llm-service:8103  ·  Isolated Internal Subnet</a:t>
            </a:r>
            <a:br>
              <a:rPr sz="1000" dirty="0"/>
            </a:br>
            <a:r>
              <a:rPr sz="1000" dirty="0"/>
              <a:t>Deterministic Local Mock or Google Gemini API</a:t>
            </a:r>
          </a:p>
        </p:txBody>
      </p:sp>
      <p:sp>
        <p:nvSpPr>
          <p:cNvPr id="10" name="Rounded Rectangle 9"/>
          <p:cNvSpPr/>
          <p:nvPr/>
        </p:nvSpPr>
        <p:spPr>
          <a:xfrm>
            <a:off x="3657600" y="2724912"/>
            <a:ext cx="2011680" cy="219456"/>
          </a:xfrm>
          <a:prstGeom prst="round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750" b="1">
                <a:solidFill>
                  <a:srgbClr val="F8FAFC"/>
                </a:solidFill>
                <a:latin typeface="Segoe UI"/>
              </a:defRPr>
            </a:pPr>
            <a:r>
              <a:rPr sz="900" dirty="0"/>
              <a:t>▲ AUTHORIZED DISPATCH</a:t>
            </a:r>
          </a:p>
        </p:txBody>
      </p:sp>
      <p:sp>
        <p:nvSpPr>
          <p:cNvPr id="11" name="Rounded Rectangle 10"/>
          <p:cNvSpPr/>
          <p:nvPr/>
        </p:nvSpPr>
        <p:spPr>
          <a:xfrm>
            <a:off x="2926080" y="3017520"/>
            <a:ext cx="3474720" cy="1600200"/>
          </a:xfrm>
          <a:prstGeom prst="roundRect">
            <a:avLst/>
          </a:prstGeom>
          <a:solidFill>
            <a:srgbClr val="182135"/>
          </a:solidFill>
          <a:ln w="254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3063240" y="3127248"/>
            <a:ext cx="1645920" cy="237744"/>
          </a:xfrm>
          <a:prstGeom prst="round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900" b="1">
                <a:solidFill>
                  <a:srgbClr val="0A0E17"/>
                </a:solidFill>
                <a:latin typeface="Segoe UI"/>
              </a:defRPr>
            </a:pPr>
            <a:r>
              <a:t>SECURITY GATEWAY</a:t>
            </a:r>
          </a:p>
        </p:txBody>
      </p:sp>
      <p:sp>
        <p:nvSpPr>
          <p:cNvPr id="13" name="Rounded Rectangle 12"/>
          <p:cNvSpPr/>
          <p:nvPr/>
        </p:nvSpPr>
        <p:spPr>
          <a:xfrm>
            <a:off x="4754880" y="3127248"/>
            <a:ext cx="1508760" cy="237744"/>
          </a:xfrm>
          <a:prstGeom prst="round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750" b="1">
                <a:solidFill>
                  <a:srgbClr val="00E5FF"/>
                </a:solidFill>
                <a:latin typeface="Segoe UI"/>
              </a:defRPr>
            </a:pPr>
            <a:r>
              <a:t>PORT 8000 (LOOPBACK)</a:t>
            </a:r>
          </a:p>
        </p:txBody>
      </p:sp>
      <p:sp>
        <p:nvSpPr>
          <p:cNvPr id="14" name="TextBox 13"/>
          <p:cNvSpPr txBox="1"/>
          <p:nvPr/>
        </p:nvSpPr>
        <p:spPr>
          <a:xfrm>
            <a:off x="3063240" y="3429000"/>
            <a:ext cx="3200400" cy="592470"/>
          </a:xfrm>
          <a:prstGeom prst="rect">
            <a:avLst/>
          </a:prstGeom>
          <a:noFill/>
        </p:spPr>
        <p:txBody>
          <a:bodyPr wrap="square">
            <a:spAutoFit/>
          </a:bodyPr>
          <a:lstStyle/>
          <a:p>
            <a:pPr>
              <a:defRPr sz="900" b="1">
                <a:solidFill>
                  <a:srgbClr val="F8FAFC"/>
                </a:solidFill>
                <a:latin typeface="Segoe UI"/>
              </a:defRPr>
            </a:pPr>
            <a:r>
              <a:rPr sz="1050" dirty="0"/>
              <a:t>Policy Engine (Default-Deny Evaluation Matrix)</a:t>
            </a:r>
          </a:p>
          <a:p>
            <a:pPr>
              <a:defRPr sz="850">
                <a:solidFill>
                  <a:srgbClr val="E2E8F0"/>
                </a:solidFill>
                <a:latin typeface="Segoe UI"/>
              </a:defRPr>
            </a:pPr>
            <a:r>
              <a:rPr sz="1100" dirty="0"/>
              <a:t>Prompt Injection Heuristic Inspection &amp; Refusals</a:t>
            </a:r>
          </a:p>
          <a:p>
            <a:pPr>
              <a:defRPr sz="850">
                <a:solidFill>
                  <a:srgbClr val="E2E8F0"/>
                </a:solidFill>
                <a:latin typeface="Segoe UI"/>
              </a:defRPr>
            </a:pPr>
            <a:r>
              <a:rPr sz="1100" dirty="0"/>
              <a:t>Cryptographic Audit Dispatcher &amp; Event Emitter</a:t>
            </a:r>
          </a:p>
        </p:txBody>
      </p:sp>
      <p:sp>
        <p:nvSpPr>
          <p:cNvPr id="15" name="Rounded Rectangle 14"/>
          <p:cNvSpPr/>
          <p:nvPr/>
        </p:nvSpPr>
        <p:spPr>
          <a:xfrm>
            <a:off x="731520" y="3017520"/>
            <a:ext cx="1645920" cy="1600200"/>
          </a:xfrm>
          <a:prstGeom prst="roundRect">
            <a:avLst/>
          </a:prstGeom>
          <a:solidFill>
            <a:srgbClr val="182135"/>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868680" y="3127248"/>
            <a:ext cx="914400" cy="219456"/>
          </a:xfrm>
          <a:prstGeom prst="round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800" b="1">
                <a:solidFill>
                  <a:srgbClr val="F8FAFC"/>
                </a:solidFill>
                <a:latin typeface="Segoe UI"/>
              </a:defRPr>
            </a:pPr>
            <a:r>
              <a:rPr sz="900" dirty="0"/>
              <a:t>RED SANDBOX</a:t>
            </a:r>
          </a:p>
        </p:txBody>
      </p:sp>
      <p:sp>
        <p:nvSpPr>
          <p:cNvPr id="17" name="Rounded Rectangle 16"/>
          <p:cNvSpPr/>
          <p:nvPr/>
        </p:nvSpPr>
        <p:spPr>
          <a:xfrm>
            <a:off x="868680" y="3383280"/>
            <a:ext cx="1371600" cy="182880"/>
          </a:xfrm>
          <a:prstGeom prst="round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750" b="1">
                <a:solidFill>
                  <a:srgbClr val="94A3B8"/>
                </a:solidFill>
                <a:latin typeface="Segoe UI"/>
              </a:defRPr>
            </a:pPr>
            <a:r>
              <a:t>red_net: internal</a:t>
            </a:r>
          </a:p>
        </p:txBody>
      </p:sp>
      <p:sp>
        <p:nvSpPr>
          <p:cNvPr id="18" name="TextBox 17"/>
          <p:cNvSpPr txBox="1"/>
          <p:nvPr/>
        </p:nvSpPr>
        <p:spPr>
          <a:xfrm>
            <a:off x="868680" y="3611880"/>
            <a:ext cx="1371600" cy="707886"/>
          </a:xfrm>
          <a:prstGeom prst="rect">
            <a:avLst/>
          </a:prstGeom>
          <a:noFill/>
        </p:spPr>
        <p:txBody>
          <a:bodyPr wrap="square">
            <a:spAutoFit/>
          </a:bodyPr>
          <a:lstStyle/>
          <a:p>
            <a:pPr>
              <a:defRPr sz="850">
                <a:solidFill>
                  <a:srgbClr val="E2E8F0"/>
                </a:solidFill>
                <a:latin typeface="Segoe UI"/>
              </a:defRPr>
            </a:pPr>
            <a:r>
              <a:rPr sz="1000" dirty="0"/>
              <a:t>red-service:8101</a:t>
            </a:r>
            <a:br>
              <a:rPr sz="1000" dirty="0"/>
            </a:br>
            <a:r>
              <a:rPr sz="1000" dirty="0"/>
              <a:t>Adversarial testing</a:t>
            </a:r>
            <a:br>
              <a:rPr sz="1000" dirty="0"/>
            </a:br>
            <a:r>
              <a:rPr sz="1000" dirty="0"/>
              <a:t>Attack payloads</a:t>
            </a:r>
            <a:br>
              <a:rPr sz="1000" dirty="0"/>
            </a:br>
            <a:r>
              <a:rPr sz="1000" dirty="0"/>
              <a:t>Unprivileged root</a:t>
            </a:r>
          </a:p>
        </p:txBody>
      </p:sp>
      <p:sp>
        <p:nvSpPr>
          <p:cNvPr id="19" name="Rounded Rectangle 18"/>
          <p:cNvSpPr/>
          <p:nvPr/>
        </p:nvSpPr>
        <p:spPr>
          <a:xfrm>
            <a:off x="2395728" y="3657600"/>
            <a:ext cx="512064" cy="237744"/>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700" b="1">
                <a:solidFill>
                  <a:srgbClr val="0A0E17"/>
                </a:solidFill>
                <a:latin typeface="Segoe UI"/>
              </a:defRPr>
            </a:pPr>
            <a:r>
              <a:t>ALLOW ►</a:t>
            </a:r>
          </a:p>
        </p:txBody>
      </p:sp>
      <p:sp>
        <p:nvSpPr>
          <p:cNvPr id="20" name="Rounded Rectangle 19"/>
          <p:cNvSpPr/>
          <p:nvPr/>
        </p:nvSpPr>
        <p:spPr>
          <a:xfrm>
            <a:off x="6949440" y="3017520"/>
            <a:ext cx="1645920" cy="1600200"/>
          </a:xfrm>
          <a:prstGeom prst="roundRect">
            <a:avLst/>
          </a:prstGeom>
          <a:solidFill>
            <a:srgbClr val="182135"/>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7086600" y="3127248"/>
            <a:ext cx="914400" cy="219456"/>
          </a:xfrm>
          <a:prstGeom prst="round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800" b="1">
                <a:solidFill>
                  <a:srgbClr val="F8FAFC"/>
                </a:solidFill>
                <a:latin typeface="Segoe UI"/>
              </a:defRPr>
            </a:pPr>
            <a:r>
              <a:rPr sz="900" dirty="0"/>
              <a:t>BLUE SANDBOX</a:t>
            </a:r>
          </a:p>
        </p:txBody>
      </p:sp>
      <p:sp>
        <p:nvSpPr>
          <p:cNvPr id="22" name="Rounded Rectangle 21"/>
          <p:cNvSpPr/>
          <p:nvPr/>
        </p:nvSpPr>
        <p:spPr>
          <a:xfrm>
            <a:off x="7086600" y="3383280"/>
            <a:ext cx="1371600" cy="182880"/>
          </a:xfrm>
          <a:prstGeom prst="round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750" b="1">
                <a:solidFill>
                  <a:srgbClr val="94A3B8"/>
                </a:solidFill>
                <a:latin typeface="Segoe UI"/>
              </a:defRPr>
            </a:pPr>
            <a:r>
              <a:t>blue_net: internal</a:t>
            </a:r>
          </a:p>
        </p:txBody>
      </p:sp>
      <p:sp>
        <p:nvSpPr>
          <p:cNvPr id="23" name="TextBox 22"/>
          <p:cNvSpPr txBox="1"/>
          <p:nvPr/>
        </p:nvSpPr>
        <p:spPr>
          <a:xfrm>
            <a:off x="7086600" y="3611880"/>
            <a:ext cx="1371600" cy="707886"/>
          </a:xfrm>
          <a:prstGeom prst="rect">
            <a:avLst/>
          </a:prstGeom>
          <a:noFill/>
        </p:spPr>
        <p:txBody>
          <a:bodyPr wrap="square">
            <a:spAutoFit/>
          </a:bodyPr>
          <a:lstStyle/>
          <a:p>
            <a:pPr>
              <a:defRPr sz="850">
                <a:solidFill>
                  <a:srgbClr val="E2E8F0"/>
                </a:solidFill>
                <a:latin typeface="Segoe UI"/>
              </a:defRPr>
            </a:pPr>
            <a:r>
              <a:rPr sz="1000" dirty="0"/>
              <a:t>blue-service:8102</a:t>
            </a:r>
            <a:br>
              <a:rPr sz="1000" dirty="0"/>
            </a:br>
            <a:r>
              <a:rPr sz="1000" dirty="0"/>
              <a:t>Defensive state</a:t>
            </a:r>
            <a:br>
              <a:rPr sz="1000" dirty="0"/>
            </a:br>
            <a:r>
              <a:rPr sz="1000" dirty="0"/>
              <a:t>Protected assets</a:t>
            </a:r>
            <a:br>
              <a:rPr sz="1000" dirty="0"/>
            </a:br>
            <a:r>
              <a:rPr sz="1000" dirty="0"/>
              <a:t>Restricted access</a:t>
            </a:r>
          </a:p>
        </p:txBody>
      </p:sp>
      <p:sp>
        <p:nvSpPr>
          <p:cNvPr id="24" name="Rounded Rectangle 23"/>
          <p:cNvSpPr/>
          <p:nvPr/>
        </p:nvSpPr>
        <p:spPr>
          <a:xfrm>
            <a:off x="6419088" y="3657600"/>
            <a:ext cx="512064" cy="237744"/>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700" b="1">
                <a:solidFill>
                  <a:srgbClr val="0A0E17"/>
                </a:solidFill>
                <a:latin typeface="Segoe UI"/>
              </a:defRPr>
            </a:pPr>
            <a:r>
              <a:t>◄ ALLOW</a:t>
            </a:r>
          </a:p>
        </p:txBody>
      </p:sp>
      <p:sp>
        <p:nvSpPr>
          <p:cNvPr id="25" name="Rounded Rectangle 24"/>
          <p:cNvSpPr/>
          <p:nvPr/>
        </p:nvSpPr>
        <p:spPr>
          <a:xfrm>
            <a:off x="2926080" y="4681728"/>
            <a:ext cx="3474720" cy="201168"/>
          </a:xfrm>
          <a:prstGeom prst="round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750" b="1">
                <a:solidFill>
                  <a:srgbClr val="F8FAFC"/>
                </a:solidFill>
                <a:latin typeface="Segoe UI"/>
              </a:defRPr>
            </a:pPr>
            <a:r>
              <a:rPr sz="900" dirty="0"/>
              <a:t>RED ◄── [BLOCKED: 403 FORBIDDEN] ──► BLUE</a:t>
            </a:r>
          </a:p>
        </p:txBody>
      </p:sp>
      <p:sp>
        <p:nvSpPr>
          <p:cNvPr id="26" name="Rounded Rectangle 25"/>
          <p:cNvSpPr/>
          <p:nvPr/>
        </p:nvSpPr>
        <p:spPr>
          <a:xfrm>
            <a:off x="731520" y="4956048"/>
            <a:ext cx="3749039" cy="1188720"/>
          </a:xfrm>
          <a:prstGeom prst="roundRect">
            <a:avLst/>
          </a:prstGeom>
          <a:solidFill>
            <a:srgbClr val="182135"/>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868680" y="5047488"/>
            <a:ext cx="1554480" cy="201168"/>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800" b="1">
                <a:solidFill>
                  <a:srgbClr val="0A0E17"/>
                </a:solidFill>
                <a:latin typeface="Segoe UI"/>
              </a:defRPr>
            </a:pPr>
            <a:r>
              <a:rPr sz="900" dirty="0"/>
              <a:t>SECURITY EVENT STORE</a:t>
            </a:r>
          </a:p>
        </p:txBody>
      </p:sp>
      <p:sp>
        <p:nvSpPr>
          <p:cNvPr id="28" name="TextBox 27"/>
          <p:cNvSpPr txBox="1"/>
          <p:nvPr/>
        </p:nvSpPr>
        <p:spPr>
          <a:xfrm>
            <a:off x="868680" y="5303520"/>
            <a:ext cx="3474720" cy="577081"/>
          </a:xfrm>
          <a:prstGeom prst="rect">
            <a:avLst/>
          </a:prstGeom>
          <a:noFill/>
        </p:spPr>
        <p:txBody>
          <a:bodyPr wrap="square">
            <a:spAutoFit/>
          </a:bodyPr>
          <a:lstStyle/>
          <a:p>
            <a:pPr>
              <a:defRPr sz="850">
                <a:solidFill>
                  <a:srgbClr val="F8FAFC"/>
                </a:solidFill>
                <a:latin typeface="Segoe UI"/>
              </a:defRPr>
            </a:pPr>
            <a:r>
              <a:rPr sz="1050" dirty="0"/>
              <a:t>SQLite (data/</a:t>
            </a:r>
            <a:r>
              <a:rPr sz="1050" dirty="0" err="1"/>
              <a:t>events.db</a:t>
            </a:r>
            <a:r>
              <a:rPr sz="1050" dirty="0"/>
              <a:t>)  ·  ACID Persistence</a:t>
            </a:r>
            <a:br>
              <a:rPr sz="1050" dirty="0"/>
            </a:br>
            <a:r>
              <a:rPr sz="1050" dirty="0"/>
              <a:t>Parameterized queries, severity indexing (</a:t>
            </a:r>
            <a:r>
              <a:rPr sz="1050" dirty="0" err="1"/>
              <a:t>Info→Critical</a:t>
            </a:r>
            <a:r>
              <a:rPr sz="1050" dirty="0"/>
              <a:t>), audit foreign key</a:t>
            </a:r>
          </a:p>
        </p:txBody>
      </p:sp>
      <p:sp>
        <p:nvSpPr>
          <p:cNvPr id="29" name="Rounded Rectangle 28"/>
          <p:cNvSpPr/>
          <p:nvPr/>
        </p:nvSpPr>
        <p:spPr>
          <a:xfrm>
            <a:off x="4663440" y="4956048"/>
            <a:ext cx="3749039" cy="1188720"/>
          </a:xfrm>
          <a:prstGeom prst="roundRect">
            <a:avLst/>
          </a:prstGeom>
          <a:solidFill>
            <a:srgbClr val="18213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4800600" y="5047488"/>
            <a:ext cx="1554480" cy="201168"/>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800" b="1">
                <a:solidFill>
                  <a:srgbClr val="0A0E17"/>
                </a:solidFill>
                <a:latin typeface="Segoe UI"/>
              </a:defRPr>
            </a:pPr>
            <a:r>
              <a:rPr sz="900" dirty="0"/>
              <a:t>HASH-CHAINED AUDIT</a:t>
            </a:r>
          </a:p>
        </p:txBody>
      </p:sp>
      <p:sp>
        <p:nvSpPr>
          <p:cNvPr id="31" name="TextBox 30"/>
          <p:cNvSpPr txBox="1"/>
          <p:nvPr/>
        </p:nvSpPr>
        <p:spPr>
          <a:xfrm>
            <a:off x="4800600" y="5303520"/>
            <a:ext cx="3474720" cy="577081"/>
          </a:xfrm>
          <a:prstGeom prst="rect">
            <a:avLst/>
          </a:prstGeom>
          <a:noFill/>
        </p:spPr>
        <p:txBody>
          <a:bodyPr wrap="square">
            <a:spAutoFit/>
          </a:bodyPr>
          <a:lstStyle/>
          <a:p>
            <a:pPr>
              <a:defRPr sz="850">
                <a:solidFill>
                  <a:srgbClr val="F8FAFC"/>
                </a:solidFill>
                <a:latin typeface="Segoe UI"/>
              </a:defRPr>
            </a:pPr>
            <a:r>
              <a:rPr sz="1050" dirty="0"/>
              <a:t>JSONL (data/</a:t>
            </a:r>
            <a:r>
              <a:rPr sz="1050" dirty="0" err="1"/>
              <a:t>audit_log.jsonl</a:t>
            </a:r>
            <a:r>
              <a:rPr sz="1050" dirty="0"/>
              <a:t>)  ·  SHA-256 Links</a:t>
            </a:r>
            <a:br>
              <a:rPr sz="1050" dirty="0"/>
            </a:br>
            <a:r>
              <a:rPr sz="1050" dirty="0"/>
              <a:t>Checkpoint (_</a:t>
            </a:r>
            <a:r>
              <a:rPr sz="1050" dirty="0" err="1"/>
              <a:t>head.json</a:t>
            </a:r>
            <a:r>
              <a:rPr sz="1050" dirty="0"/>
              <a:t>) detects tail truncation &amp; record deletions</a:t>
            </a:r>
          </a:p>
        </p:txBody>
      </p:sp>
      <p:sp>
        <p:nvSpPr>
          <p:cNvPr id="32" name="Rounded Rectangle 31"/>
          <p:cNvSpPr/>
          <p:nvPr/>
        </p:nvSpPr>
        <p:spPr>
          <a:xfrm>
            <a:off x="8641079" y="1691640"/>
            <a:ext cx="3108959" cy="4453128"/>
          </a:xfrm>
          <a:prstGeom prst="roundRect">
            <a:avLst/>
          </a:prstGeom>
          <a:solidFill>
            <a:srgbClr val="111827"/>
          </a:solidFill>
          <a:ln w="1270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8961119" y="1828800"/>
            <a:ext cx="2450592" cy="256032"/>
          </a:xfrm>
          <a:prstGeom prst="roundRect">
            <a:avLst/>
          </a:prstGeom>
          <a:solidFill>
            <a:srgbClr val="182135"/>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900" b="1">
                <a:solidFill>
                  <a:srgbClr val="00E5FF"/>
                </a:solidFill>
                <a:latin typeface="Segoe UI"/>
              </a:defRPr>
            </a:pPr>
            <a:r>
              <a:rPr dirty="0"/>
              <a:t>ACCESS POLICY MATRIX</a:t>
            </a:r>
          </a:p>
        </p:txBody>
      </p:sp>
      <p:sp>
        <p:nvSpPr>
          <p:cNvPr id="34" name="TextBox 33"/>
          <p:cNvSpPr txBox="1"/>
          <p:nvPr/>
        </p:nvSpPr>
        <p:spPr>
          <a:xfrm>
            <a:off x="8823959" y="2260228"/>
            <a:ext cx="2743200" cy="2703304"/>
          </a:xfrm>
          <a:prstGeom prst="rect">
            <a:avLst/>
          </a:prstGeom>
          <a:noFill/>
        </p:spPr>
        <p:txBody>
          <a:bodyPr wrap="square">
            <a:spAutoFit/>
          </a:bodyPr>
          <a:lstStyle/>
          <a:p>
            <a:pPr>
              <a:spcAft>
                <a:spcPts val="600"/>
              </a:spcAft>
              <a:defRPr sz="1000" b="1">
                <a:solidFill>
                  <a:srgbClr val="F8FAFC"/>
                </a:solidFill>
                <a:latin typeface="Segoe UI"/>
              </a:defRPr>
            </a:pPr>
            <a:r>
              <a:rPr sz="1200" dirty="0"/>
              <a:t>Explicit Policy Rules:</a:t>
            </a:r>
          </a:p>
          <a:p>
            <a:r>
              <a:rPr sz="1100" b="1" dirty="0">
                <a:solidFill>
                  <a:srgbClr val="F8FAFC"/>
                </a:solidFill>
              </a:rPr>
              <a:t>Red → LLM: </a:t>
            </a:r>
            <a:r>
              <a:rPr sz="1100" b="1" dirty="0">
                <a:solidFill>
                  <a:srgbClr val="10B981"/>
                </a:solidFill>
              </a:rPr>
              <a:t>ALLOW (200)</a:t>
            </a:r>
          </a:p>
          <a:p>
            <a:pPr>
              <a:spcAft>
                <a:spcPts val="400"/>
              </a:spcAft>
              <a:defRPr sz="750">
                <a:solidFill>
                  <a:srgbClr val="E2E8F0"/>
                </a:solidFill>
                <a:latin typeface="Segoe UI"/>
              </a:defRPr>
            </a:pPr>
            <a:r>
              <a:rPr sz="1000" dirty="0"/>
              <a:t>  └ Authorized adversarial probe via Gateway</a:t>
            </a:r>
          </a:p>
          <a:p>
            <a:r>
              <a:rPr sz="1100" b="1" dirty="0">
                <a:solidFill>
                  <a:srgbClr val="F8FAFC"/>
                </a:solidFill>
              </a:rPr>
              <a:t>Blue → LLM: </a:t>
            </a:r>
            <a:r>
              <a:rPr sz="1100" b="1" dirty="0">
                <a:solidFill>
                  <a:srgbClr val="10B981"/>
                </a:solidFill>
              </a:rPr>
              <a:t>ALLOW (200)</a:t>
            </a:r>
          </a:p>
          <a:p>
            <a:pPr>
              <a:spcAft>
                <a:spcPts val="400"/>
              </a:spcAft>
              <a:defRPr sz="750">
                <a:solidFill>
                  <a:srgbClr val="E2E8F0"/>
                </a:solidFill>
                <a:latin typeface="Segoe UI"/>
              </a:defRPr>
            </a:pPr>
            <a:r>
              <a:rPr sz="1000" dirty="0"/>
              <a:t>  └ Authorized defensive prompt via Gateway</a:t>
            </a:r>
          </a:p>
          <a:p>
            <a:r>
              <a:rPr sz="1100" b="1" dirty="0">
                <a:solidFill>
                  <a:srgbClr val="F8FAFC"/>
                </a:solidFill>
              </a:rPr>
              <a:t>Red → Blue: </a:t>
            </a:r>
            <a:r>
              <a:rPr sz="1100" b="1" dirty="0">
                <a:solidFill>
                  <a:srgbClr val="EF4444"/>
                </a:solidFill>
              </a:rPr>
              <a:t>DENY (403)</a:t>
            </a:r>
          </a:p>
          <a:p>
            <a:pPr>
              <a:spcAft>
                <a:spcPts val="400"/>
              </a:spcAft>
              <a:defRPr sz="750">
                <a:solidFill>
                  <a:srgbClr val="E2E8F0"/>
                </a:solidFill>
                <a:latin typeface="Segoe UI"/>
              </a:defRPr>
            </a:pPr>
            <a:r>
              <a:rPr sz="1000" dirty="0"/>
              <a:t>  └ Blocked: Cannot touch defense state</a:t>
            </a:r>
          </a:p>
          <a:p>
            <a:r>
              <a:rPr sz="1100" b="1" dirty="0">
                <a:solidFill>
                  <a:srgbClr val="F8FAFC"/>
                </a:solidFill>
              </a:rPr>
              <a:t>Blue → Red: </a:t>
            </a:r>
            <a:r>
              <a:rPr sz="1100" b="1" dirty="0">
                <a:solidFill>
                  <a:srgbClr val="EF4444"/>
                </a:solidFill>
              </a:rPr>
              <a:t>DENY (403)</a:t>
            </a:r>
          </a:p>
          <a:p>
            <a:pPr>
              <a:spcAft>
                <a:spcPts val="400"/>
              </a:spcAft>
              <a:defRPr sz="750">
                <a:solidFill>
                  <a:srgbClr val="E2E8F0"/>
                </a:solidFill>
                <a:latin typeface="Segoe UI"/>
              </a:defRPr>
            </a:pPr>
            <a:r>
              <a:rPr sz="1000" dirty="0"/>
              <a:t>  └ Blocked: Cannot inspect attack payload</a:t>
            </a:r>
          </a:p>
          <a:p>
            <a:r>
              <a:rPr sz="1100" b="1" dirty="0">
                <a:solidFill>
                  <a:srgbClr val="F8FAFC"/>
                </a:solidFill>
              </a:rPr>
              <a:t>LLM → Red: </a:t>
            </a:r>
            <a:r>
              <a:rPr sz="1100" b="1" dirty="0">
                <a:solidFill>
                  <a:srgbClr val="EF4444"/>
                </a:solidFill>
              </a:rPr>
              <a:t>DENY (403)</a:t>
            </a:r>
          </a:p>
          <a:p>
            <a:pPr>
              <a:spcAft>
                <a:spcPts val="400"/>
              </a:spcAft>
              <a:defRPr sz="750">
                <a:solidFill>
                  <a:srgbClr val="E2E8F0"/>
                </a:solidFill>
                <a:latin typeface="Segoe UI"/>
              </a:defRPr>
            </a:pPr>
            <a:r>
              <a:rPr sz="1000" dirty="0"/>
              <a:t>  └ Blocked: Model cannot initiate outbound</a:t>
            </a:r>
          </a:p>
          <a:p>
            <a:r>
              <a:rPr sz="1100" b="1" dirty="0">
                <a:solidFill>
                  <a:srgbClr val="F8FAFC"/>
                </a:solidFill>
              </a:rPr>
              <a:t>Unknown: </a:t>
            </a:r>
            <a:r>
              <a:rPr sz="1100" b="1" dirty="0">
                <a:solidFill>
                  <a:srgbClr val="EF4444"/>
                </a:solidFill>
              </a:rPr>
              <a:t>DENY (403)</a:t>
            </a:r>
          </a:p>
          <a:p>
            <a:pPr>
              <a:spcAft>
                <a:spcPts val="400"/>
              </a:spcAft>
              <a:defRPr sz="750">
                <a:solidFill>
                  <a:srgbClr val="E2E8F0"/>
                </a:solidFill>
                <a:latin typeface="Segoe UI"/>
              </a:defRPr>
            </a:pPr>
            <a:r>
              <a:rPr sz="1000" dirty="0"/>
              <a:t>  └ Default-deny on unlisted zone / route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84048"/>
            <a:ext cx="10515600" cy="256032"/>
          </a:xfrm>
          <a:prstGeom prst="rect">
            <a:avLst/>
          </a:prstGeom>
          <a:noFill/>
        </p:spPr>
        <p:txBody>
          <a:bodyPr wrap="square" lIns="0" tIns="0" rIns="0" bIns="0">
            <a:spAutoFit/>
          </a:bodyPr>
          <a:lstStyle/>
          <a:p>
            <a:pPr>
              <a:defRPr sz="1000" b="1">
                <a:solidFill>
                  <a:srgbClr val="00E5FF"/>
                </a:solidFill>
                <a:latin typeface="Segoe UI"/>
              </a:defRPr>
            </a:pPr>
            <a:r>
              <a:t>05 // THE REQUEST LIFECYCLE</a:t>
            </a:r>
          </a:p>
        </p:txBody>
      </p:sp>
      <p:sp>
        <p:nvSpPr>
          <p:cNvPr id="4" name="TextBox 3"/>
          <p:cNvSpPr txBox="1"/>
          <p:nvPr/>
        </p:nvSpPr>
        <p:spPr>
          <a:xfrm>
            <a:off x="731520" y="658368"/>
            <a:ext cx="10698480" cy="566928"/>
          </a:xfrm>
          <a:prstGeom prst="rect">
            <a:avLst/>
          </a:prstGeom>
          <a:noFill/>
        </p:spPr>
        <p:txBody>
          <a:bodyPr wrap="square" lIns="0" tIns="0" rIns="0" bIns="0">
            <a:spAutoFit/>
          </a:bodyPr>
          <a:lstStyle/>
          <a:p>
            <a:pPr>
              <a:defRPr sz="2200" b="1">
                <a:solidFill>
                  <a:srgbClr val="F8FAFC"/>
                </a:solidFill>
                <a:latin typeface="Segoe UI"/>
              </a:defRPr>
            </a:pPr>
            <a:r>
              <a:t>How a Request Works: From Ingress to Cryptographic Proof</a:t>
            </a:r>
          </a:p>
        </p:txBody>
      </p:sp>
      <p:sp>
        <p:nvSpPr>
          <p:cNvPr id="5" name="TextBox 4"/>
          <p:cNvSpPr txBox="1"/>
          <p:nvPr/>
        </p:nvSpPr>
        <p:spPr>
          <a:xfrm>
            <a:off x="731520" y="1243584"/>
            <a:ext cx="10698480" cy="292608"/>
          </a:xfrm>
          <a:prstGeom prst="rect">
            <a:avLst/>
          </a:prstGeom>
          <a:noFill/>
        </p:spPr>
        <p:txBody>
          <a:bodyPr wrap="square" lIns="0" tIns="0" rIns="0" bIns="0">
            <a:spAutoFit/>
          </a:bodyPr>
          <a:lstStyle/>
          <a:p>
            <a:pPr>
              <a:defRPr sz="1100">
                <a:solidFill>
                  <a:srgbClr val="E2E8F0"/>
                </a:solidFill>
                <a:latin typeface="Segoe UI"/>
              </a:defRPr>
            </a:pPr>
            <a:r>
              <a:t>A rigorous 6-stage evaluation pipeline executed in milliseconds for every single test invocation.</a:t>
            </a:r>
          </a:p>
        </p:txBody>
      </p:sp>
      <p:sp>
        <p:nvSpPr>
          <p:cNvPr id="6" name="Rounded Rectangle 5"/>
          <p:cNvSpPr/>
          <p:nvPr/>
        </p:nvSpPr>
        <p:spPr>
          <a:xfrm>
            <a:off x="731520" y="1691640"/>
            <a:ext cx="1691640" cy="3931920"/>
          </a:xfrm>
          <a:prstGeom prst="roundRect">
            <a:avLst/>
          </a:prstGeom>
          <a:solidFill>
            <a:srgbClr val="111827"/>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68680" y="1874520"/>
            <a:ext cx="1417320" cy="237744"/>
          </a:xfrm>
          <a:prstGeom prst="round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800" b="1">
                <a:solidFill>
                  <a:srgbClr val="0A0E17"/>
                </a:solidFill>
                <a:latin typeface="Segoe UI"/>
              </a:defRPr>
            </a:pPr>
            <a:r>
              <a:rPr sz="1000" dirty="0"/>
              <a:t>1. INGRESS</a:t>
            </a:r>
          </a:p>
        </p:txBody>
      </p:sp>
      <p:sp>
        <p:nvSpPr>
          <p:cNvPr id="8" name="TextBox 7"/>
          <p:cNvSpPr txBox="1"/>
          <p:nvPr/>
        </p:nvSpPr>
        <p:spPr>
          <a:xfrm>
            <a:off x="841248" y="2194560"/>
            <a:ext cx="1581912" cy="2380139"/>
          </a:xfrm>
          <a:prstGeom prst="rect">
            <a:avLst/>
          </a:prstGeom>
          <a:noFill/>
        </p:spPr>
        <p:txBody>
          <a:bodyPr wrap="square">
            <a:spAutoFit/>
          </a:bodyPr>
          <a:lstStyle/>
          <a:p>
            <a:pPr>
              <a:spcAft>
                <a:spcPts val="600"/>
              </a:spcAft>
              <a:defRPr sz="1050" b="1">
                <a:solidFill>
                  <a:srgbClr val="F8FAFC"/>
                </a:solidFill>
                <a:latin typeface="Segoe UI"/>
              </a:defRPr>
            </a:pPr>
            <a:r>
              <a:rPr sz="1600" dirty="0"/>
              <a:t>Probe Ingress</a:t>
            </a:r>
          </a:p>
          <a:p>
            <a:pPr>
              <a:spcAft>
                <a:spcPts val="400"/>
              </a:spcAft>
              <a:defRPr sz="800">
                <a:solidFill>
                  <a:srgbClr val="E2E8F0"/>
                </a:solidFill>
                <a:latin typeface="Segoe UI"/>
              </a:defRPr>
            </a:pPr>
            <a:r>
              <a:rPr sz="1100" dirty="0"/>
              <a:t>• Source zone initiates request to Gateway API.</a:t>
            </a:r>
          </a:p>
          <a:p>
            <a:pPr>
              <a:spcAft>
                <a:spcPts val="400"/>
              </a:spcAft>
              <a:defRPr sz="800">
                <a:solidFill>
                  <a:srgbClr val="E2E8F0"/>
                </a:solidFill>
                <a:latin typeface="Segoe UI"/>
              </a:defRPr>
            </a:pPr>
            <a:r>
              <a:rPr sz="1100" dirty="0"/>
              <a:t>• JSON payload: {source, target, payload}.</a:t>
            </a:r>
          </a:p>
          <a:p>
            <a:pPr>
              <a:spcAft>
                <a:spcPts val="400"/>
              </a:spcAft>
              <a:defRPr sz="800">
                <a:solidFill>
                  <a:srgbClr val="E2E8F0"/>
                </a:solidFill>
                <a:latin typeface="Segoe UI"/>
              </a:defRPr>
            </a:pPr>
            <a:r>
              <a:rPr sz="1100" dirty="0"/>
              <a:t>• Gateway captures timestamp and generates unique </a:t>
            </a:r>
            <a:r>
              <a:rPr sz="1100" dirty="0" err="1"/>
              <a:t>request_id</a:t>
            </a:r>
            <a:r>
              <a:rPr sz="1100" dirty="0"/>
              <a:t> and </a:t>
            </a:r>
            <a:r>
              <a:rPr sz="1100" dirty="0" err="1"/>
              <a:t>session_id</a:t>
            </a:r>
            <a:r>
              <a:rPr sz="1100" dirty="0"/>
              <a:t>.</a:t>
            </a:r>
          </a:p>
        </p:txBody>
      </p:sp>
      <p:sp>
        <p:nvSpPr>
          <p:cNvPr id="9" name="Rounded Rectangle 8"/>
          <p:cNvSpPr/>
          <p:nvPr/>
        </p:nvSpPr>
        <p:spPr>
          <a:xfrm>
            <a:off x="2532888" y="1691640"/>
            <a:ext cx="1691640" cy="3931920"/>
          </a:xfrm>
          <a:prstGeom prst="roundRect">
            <a:avLst/>
          </a:prstGeom>
          <a:solidFill>
            <a:srgbClr val="111827"/>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2670048" y="1874520"/>
            <a:ext cx="1417320" cy="237744"/>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800" b="1">
                <a:solidFill>
                  <a:srgbClr val="0A0E17"/>
                </a:solidFill>
                <a:latin typeface="Segoe UI"/>
              </a:defRPr>
            </a:pPr>
            <a:r>
              <a:rPr sz="1000" dirty="0"/>
              <a:t>2. EVALUATE</a:t>
            </a:r>
          </a:p>
        </p:txBody>
      </p:sp>
      <p:sp>
        <p:nvSpPr>
          <p:cNvPr id="11" name="TextBox 10"/>
          <p:cNvSpPr txBox="1"/>
          <p:nvPr/>
        </p:nvSpPr>
        <p:spPr>
          <a:xfrm>
            <a:off x="2642616" y="2194560"/>
            <a:ext cx="1472184" cy="2431435"/>
          </a:xfrm>
          <a:prstGeom prst="rect">
            <a:avLst/>
          </a:prstGeom>
          <a:noFill/>
        </p:spPr>
        <p:txBody>
          <a:bodyPr wrap="square">
            <a:spAutoFit/>
          </a:bodyPr>
          <a:lstStyle/>
          <a:p>
            <a:pPr>
              <a:spcAft>
                <a:spcPts val="600"/>
              </a:spcAft>
              <a:defRPr sz="1050" b="1">
                <a:solidFill>
                  <a:srgbClr val="F8FAFC"/>
                </a:solidFill>
                <a:latin typeface="Segoe UI"/>
              </a:defRPr>
            </a:pPr>
            <a:r>
              <a:rPr sz="1600" dirty="0"/>
              <a:t>Policy Check</a:t>
            </a:r>
          </a:p>
          <a:p>
            <a:pPr>
              <a:spcAft>
                <a:spcPts val="400"/>
              </a:spcAft>
              <a:defRPr sz="800">
                <a:solidFill>
                  <a:srgbClr val="E2E8F0"/>
                </a:solidFill>
                <a:latin typeface="Segoe UI"/>
              </a:defRPr>
            </a:pPr>
            <a:r>
              <a:rPr sz="1100" dirty="0"/>
              <a:t>• Policy engine normalizes source and target.</a:t>
            </a:r>
          </a:p>
          <a:p>
            <a:pPr>
              <a:spcAft>
                <a:spcPts val="400"/>
              </a:spcAft>
              <a:defRPr sz="800">
                <a:solidFill>
                  <a:srgbClr val="E2E8F0"/>
                </a:solidFill>
                <a:latin typeface="Segoe UI"/>
              </a:defRPr>
            </a:pPr>
            <a:r>
              <a:rPr sz="1100" dirty="0"/>
              <a:t>• Queries explicit access matrix.</a:t>
            </a:r>
          </a:p>
          <a:p>
            <a:pPr>
              <a:spcAft>
                <a:spcPts val="400"/>
              </a:spcAft>
              <a:defRPr sz="800">
                <a:solidFill>
                  <a:srgbClr val="E2E8F0"/>
                </a:solidFill>
                <a:latin typeface="Segoe UI"/>
              </a:defRPr>
            </a:pPr>
            <a:r>
              <a:rPr sz="1100" dirty="0"/>
              <a:t>• Default-deny rule: anything unlisted is marked unauthorized.</a:t>
            </a:r>
          </a:p>
          <a:p>
            <a:pPr>
              <a:spcAft>
                <a:spcPts val="400"/>
              </a:spcAft>
              <a:defRPr sz="800">
                <a:solidFill>
                  <a:srgbClr val="E2E8F0"/>
                </a:solidFill>
                <a:latin typeface="Segoe UI"/>
              </a:defRPr>
            </a:pPr>
            <a:r>
              <a:rPr sz="1100" dirty="0"/>
              <a:t>• Decision object formed.</a:t>
            </a:r>
          </a:p>
        </p:txBody>
      </p:sp>
      <p:sp>
        <p:nvSpPr>
          <p:cNvPr id="12" name="Rounded Rectangle 11"/>
          <p:cNvSpPr/>
          <p:nvPr/>
        </p:nvSpPr>
        <p:spPr>
          <a:xfrm>
            <a:off x="4334256" y="1691640"/>
            <a:ext cx="1691640" cy="3931920"/>
          </a:xfrm>
          <a:prstGeom prst="roundRect">
            <a:avLst/>
          </a:prstGeom>
          <a:solidFill>
            <a:srgbClr val="111827"/>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4471416" y="1874520"/>
            <a:ext cx="1417320" cy="237744"/>
          </a:xfrm>
          <a:prstGeom prst="round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800" b="1">
                <a:solidFill>
                  <a:srgbClr val="F8FAFC"/>
                </a:solidFill>
                <a:latin typeface="Segoe UI"/>
              </a:defRPr>
            </a:pPr>
            <a:r>
              <a:rPr sz="1000" dirty="0"/>
              <a:t>3. ENFORCE</a:t>
            </a:r>
          </a:p>
        </p:txBody>
      </p:sp>
      <p:sp>
        <p:nvSpPr>
          <p:cNvPr id="14" name="TextBox 13"/>
          <p:cNvSpPr txBox="1"/>
          <p:nvPr/>
        </p:nvSpPr>
        <p:spPr>
          <a:xfrm>
            <a:off x="4443984" y="2194560"/>
            <a:ext cx="1581912" cy="2041585"/>
          </a:xfrm>
          <a:prstGeom prst="rect">
            <a:avLst/>
          </a:prstGeom>
          <a:noFill/>
        </p:spPr>
        <p:txBody>
          <a:bodyPr wrap="square">
            <a:spAutoFit/>
          </a:bodyPr>
          <a:lstStyle/>
          <a:p>
            <a:pPr>
              <a:spcAft>
                <a:spcPts val="600"/>
              </a:spcAft>
              <a:defRPr sz="1050" b="1">
                <a:solidFill>
                  <a:srgbClr val="F8FAFC"/>
                </a:solidFill>
                <a:latin typeface="Segoe UI"/>
              </a:defRPr>
            </a:pPr>
            <a:r>
              <a:rPr sz="1600" dirty="0"/>
              <a:t>Gate Decision</a:t>
            </a:r>
          </a:p>
          <a:p>
            <a:pPr>
              <a:spcAft>
                <a:spcPts val="400"/>
              </a:spcAft>
              <a:defRPr sz="800">
                <a:solidFill>
                  <a:srgbClr val="E2E8F0"/>
                </a:solidFill>
                <a:latin typeface="Segoe UI"/>
              </a:defRPr>
            </a:pPr>
            <a:r>
              <a:rPr sz="1100" dirty="0"/>
              <a:t>• If DENIED (e.g. </a:t>
            </a:r>
            <a:r>
              <a:rPr sz="1100" dirty="0" err="1"/>
              <a:t>Red→Blue</a:t>
            </a:r>
            <a:r>
              <a:rPr sz="1100" dirty="0"/>
              <a:t>): Immediate HTTP 403 response.</a:t>
            </a:r>
          </a:p>
          <a:p>
            <a:pPr>
              <a:spcAft>
                <a:spcPts val="400"/>
              </a:spcAft>
              <a:defRPr sz="800">
                <a:solidFill>
                  <a:srgbClr val="E2E8F0"/>
                </a:solidFill>
                <a:latin typeface="Segoe UI"/>
              </a:defRPr>
            </a:pPr>
            <a:r>
              <a:rPr sz="1100" dirty="0"/>
              <a:t>• Payload is completely dropped; never forwarded.</a:t>
            </a:r>
          </a:p>
          <a:p>
            <a:pPr>
              <a:spcAft>
                <a:spcPts val="400"/>
              </a:spcAft>
              <a:defRPr sz="800">
                <a:solidFill>
                  <a:srgbClr val="E2E8F0"/>
                </a:solidFill>
                <a:latin typeface="Segoe UI"/>
              </a:defRPr>
            </a:pPr>
            <a:r>
              <a:rPr sz="1100" dirty="0"/>
              <a:t>• If ALLOWED (</a:t>
            </a:r>
            <a:r>
              <a:rPr sz="1100" dirty="0" err="1"/>
              <a:t>Red→LLM</a:t>
            </a:r>
            <a:r>
              <a:rPr sz="1100" dirty="0"/>
              <a:t>): Passed to inspection pipeline.</a:t>
            </a:r>
          </a:p>
        </p:txBody>
      </p:sp>
      <p:sp>
        <p:nvSpPr>
          <p:cNvPr id="15" name="Rounded Rectangle 14"/>
          <p:cNvSpPr/>
          <p:nvPr/>
        </p:nvSpPr>
        <p:spPr>
          <a:xfrm>
            <a:off x="6135624" y="1691640"/>
            <a:ext cx="1691640" cy="3931920"/>
          </a:xfrm>
          <a:prstGeom prst="roundRect">
            <a:avLst/>
          </a:prstGeom>
          <a:solidFill>
            <a:srgbClr val="111827"/>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6272784" y="1874520"/>
            <a:ext cx="1417320" cy="237744"/>
          </a:xfrm>
          <a:prstGeom prst="round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800" b="1">
                <a:solidFill>
                  <a:srgbClr val="F8FAFC"/>
                </a:solidFill>
                <a:latin typeface="Segoe UI"/>
              </a:defRPr>
            </a:pPr>
            <a:r>
              <a:rPr sz="1000" dirty="0"/>
              <a:t>4. INSPECT</a:t>
            </a:r>
          </a:p>
        </p:txBody>
      </p:sp>
      <p:sp>
        <p:nvSpPr>
          <p:cNvPr id="17" name="TextBox 16"/>
          <p:cNvSpPr txBox="1"/>
          <p:nvPr/>
        </p:nvSpPr>
        <p:spPr>
          <a:xfrm>
            <a:off x="6245352" y="2194560"/>
            <a:ext cx="1472184" cy="2303195"/>
          </a:xfrm>
          <a:prstGeom prst="rect">
            <a:avLst/>
          </a:prstGeom>
          <a:noFill/>
        </p:spPr>
        <p:txBody>
          <a:bodyPr wrap="square">
            <a:spAutoFit/>
          </a:bodyPr>
          <a:lstStyle/>
          <a:p>
            <a:pPr>
              <a:spcAft>
                <a:spcPts val="600"/>
              </a:spcAft>
              <a:defRPr sz="1050" b="1">
                <a:solidFill>
                  <a:srgbClr val="F8FAFC"/>
                </a:solidFill>
                <a:latin typeface="Segoe UI"/>
              </a:defRPr>
            </a:pPr>
            <a:r>
              <a:rPr sz="1200" dirty="0"/>
              <a:t>Heuristics &amp; LLM</a:t>
            </a:r>
          </a:p>
          <a:p>
            <a:pPr>
              <a:spcAft>
                <a:spcPts val="400"/>
              </a:spcAft>
              <a:defRPr sz="800">
                <a:solidFill>
                  <a:srgbClr val="E2E8F0"/>
                </a:solidFill>
                <a:latin typeface="Segoe UI"/>
              </a:defRPr>
            </a:pPr>
            <a:r>
              <a:rPr sz="1200" dirty="0"/>
              <a:t>• Regex heuristic scans for prompt injection patterns.</a:t>
            </a:r>
          </a:p>
          <a:p>
            <a:pPr>
              <a:spcAft>
                <a:spcPts val="400"/>
              </a:spcAft>
              <a:defRPr sz="800">
                <a:solidFill>
                  <a:srgbClr val="E2E8F0"/>
                </a:solidFill>
                <a:latin typeface="Segoe UI"/>
              </a:defRPr>
            </a:pPr>
            <a:r>
              <a:rPr sz="1200" dirty="0"/>
              <a:t>• Payload forwarded to Client LLM (mock or Gemini).</a:t>
            </a:r>
          </a:p>
          <a:p>
            <a:pPr>
              <a:spcAft>
                <a:spcPts val="400"/>
              </a:spcAft>
              <a:defRPr sz="800">
                <a:solidFill>
                  <a:srgbClr val="E2E8F0"/>
                </a:solidFill>
                <a:latin typeface="Segoe UI"/>
              </a:defRPr>
            </a:pPr>
            <a:r>
              <a:rPr sz="1200" dirty="0"/>
              <a:t>• Model response, refusal, or canary leak captured.</a:t>
            </a:r>
          </a:p>
        </p:txBody>
      </p:sp>
      <p:sp>
        <p:nvSpPr>
          <p:cNvPr id="18" name="Rounded Rectangle 17"/>
          <p:cNvSpPr/>
          <p:nvPr/>
        </p:nvSpPr>
        <p:spPr>
          <a:xfrm>
            <a:off x="7936992" y="1691640"/>
            <a:ext cx="1691640" cy="3931920"/>
          </a:xfrm>
          <a:prstGeom prst="roundRect">
            <a:avLst/>
          </a:prstGeom>
          <a:solidFill>
            <a:srgbClr val="111827"/>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8074152" y="1874520"/>
            <a:ext cx="1417320" cy="237744"/>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800" b="1">
                <a:solidFill>
                  <a:srgbClr val="0A0E17"/>
                </a:solidFill>
                <a:latin typeface="Segoe UI"/>
              </a:defRPr>
            </a:pPr>
            <a:r>
              <a:rPr sz="1000" dirty="0"/>
              <a:t>5. CHAIN</a:t>
            </a:r>
          </a:p>
        </p:txBody>
      </p:sp>
      <p:sp>
        <p:nvSpPr>
          <p:cNvPr id="20" name="TextBox 19"/>
          <p:cNvSpPr txBox="1"/>
          <p:nvPr/>
        </p:nvSpPr>
        <p:spPr>
          <a:xfrm>
            <a:off x="8046720" y="2194560"/>
            <a:ext cx="1472184" cy="2508379"/>
          </a:xfrm>
          <a:prstGeom prst="rect">
            <a:avLst/>
          </a:prstGeom>
          <a:noFill/>
        </p:spPr>
        <p:txBody>
          <a:bodyPr wrap="square">
            <a:spAutoFit/>
          </a:bodyPr>
          <a:lstStyle/>
          <a:p>
            <a:pPr>
              <a:spcAft>
                <a:spcPts val="600"/>
              </a:spcAft>
              <a:defRPr sz="1050" b="1">
                <a:solidFill>
                  <a:srgbClr val="F8FAFC"/>
                </a:solidFill>
                <a:latin typeface="Segoe UI"/>
              </a:defRPr>
            </a:pPr>
            <a:r>
              <a:rPr sz="1600" dirty="0"/>
              <a:t>SHA-256 Ledger</a:t>
            </a:r>
          </a:p>
          <a:p>
            <a:pPr>
              <a:spcAft>
                <a:spcPts val="400"/>
              </a:spcAft>
              <a:defRPr sz="800">
                <a:solidFill>
                  <a:srgbClr val="E2E8F0"/>
                </a:solidFill>
                <a:latin typeface="Segoe UI"/>
              </a:defRPr>
            </a:pPr>
            <a:r>
              <a:rPr sz="1100" dirty="0"/>
              <a:t>• Canonical JSON created (sorted keys, ASCII safe).</a:t>
            </a:r>
          </a:p>
          <a:p>
            <a:pPr>
              <a:spcAft>
                <a:spcPts val="400"/>
              </a:spcAft>
              <a:defRPr sz="800">
                <a:solidFill>
                  <a:srgbClr val="E2E8F0"/>
                </a:solidFill>
                <a:latin typeface="Segoe UI"/>
              </a:defRPr>
            </a:pPr>
            <a:r>
              <a:rPr sz="1100" dirty="0"/>
              <a:t>• hash = SHA256(canonical JSON + </a:t>
            </a:r>
            <a:r>
              <a:rPr sz="1100" dirty="0" err="1"/>
              <a:t>prev_hash</a:t>
            </a:r>
            <a:r>
              <a:rPr sz="1100" dirty="0"/>
              <a:t>).</a:t>
            </a:r>
          </a:p>
          <a:p>
            <a:pPr>
              <a:spcAft>
                <a:spcPts val="400"/>
              </a:spcAft>
              <a:defRPr sz="800">
                <a:solidFill>
                  <a:srgbClr val="E2E8F0"/>
                </a:solidFill>
                <a:latin typeface="Segoe UI"/>
              </a:defRPr>
            </a:pPr>
            <a:r>
              <a:rPr sz="1100" dirty="0"/>
              <a:t>• Appended to </a:t>
            </a:r>
            <a:r>
              <a:rPr sz="1100" dirty="0" err="1"/>
              <a:t>audit_log.jsonl</a:t>
            </a:r>
            <a:r>
              <a:rPr sz="1100" dirty="0"/>
              <a:t>.</a:t>
            </a:r>
          </a:p>
          <a:p>
            <a:pPr>
              <a:spcAft>
                <a:spcPts val="400"/>
              </a:spcAft>
              <a:defRPr sz="800">
                <a:solidFill>
                  <a:srgbClr val="E2E8F0"/>
                </a:solidFill>
                <a:latin typeface="Segoe UI"/>
              </a:defRPr>
            </a:pPr>
            <a:r>
              <a:rPr sz="1100" dirty="0"/>
              <a:t>• Atomic update to _</a:t>
            </a:r>
            <a:r>
              <a:rPr sz="1100" dirty="0" err="1"/>
              <a:t>head.json</a:t>
            </a:r>
            <a:r>
              <a:rPr sz="1100" dirty="0"/>
              <a:t>.</a:t>
            </a:r>
          </a:p>
        </p:txBody>
      </p:sp>
      <p:sp>
        <p:nvSpPr>
          <p:cNvPr id="21" name="Rounded Rectangle 20"/>
          <p:cNvSpPr/>
          <p:nvPr/>
        </p:nvSpPr>
        <p:spPr>
          <a:xfrm>
            <a:off x="9738360" y="1691640"/>
            <a:ext cx="1691640" cy="3931920"/>
          </a:xfrm>
          <a:prstGeom prst="roundRect">
            <a:avLst/>
          </a:prstGeom>
          <a:solidFill>
            <a:srgbClr val="111827"/>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9875520" y="1874520"/>
            <a:ext cx="1417320" cy="237744"/>
          </a:xfrm>
          <a:prstGeom prst="round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800" b="1">
                <a:solidFill>
                  <a:srgbClr val="F8FAFC"/>
                </a:solidFill>
                <a:latin typeface="Segoe UI"/>
              </a:defRPr>
            </a:pPr>
            <a:r>
              <a:rPr sz="1000" dirty="0"/>
              <a:t>6. TELEMETRY</a:t>
            </a:r>
          </a:p>
        </p:txBody>
      </p:sp>
      <p:sp>
        <p:nvSpPr>
          <p:cNvPr id="23" name="TextBox 22"/>
          <p:cNvSpPr txBox="1"/>
          <p:nvPr/>
        </p:nvSpPr>
        <p:spPr>
          <a:xfrm>
            <a:off x="9848088" y="2194560"/>
            <a:ext cx="1472184" cy="2518638"/>
          </a:xfrm>
          <a:prstGeom prst="rect">
            <a:avLst/>
          </a:prstGeom>
          <a:noFill/>
        </p:spPr>
        <p:txBody>
          <a:bodyPr wrap="square">
            <a:spAutoFit/>
          </a:bodyPr>
          <a:lstStyle/>
          <a:p>
            <a:pPr>
              <a:spcAft>
                <a:spcPts val="600"/>
              </a:spcAft>
              <a:defRPr sz="1050" b="1">
                <a:solidFill>
                  <a:srgbClr val="F8FAFC"/>
                </a:solidFill>
                <a:latin typeface="Segoe UI"/>
              </a:defRPr>
            </a:pPr>
            <a:r>
              <a:rPr sz="1400" dirty="0"/>
              <a:t>Events &amp; UI</a:t>
            </a:r>
          </a:p>
          <a:p>
            <a:pPr>
              <a:spcAft>
                <a:spcPts val="400"/>
              </a:spcAft>
              <a:defRPr sz="800">
                <a:solidFill>
                  <a:srgbClr val="E2E8F0"/>
                </a:solidFill>
                <a:latin typeface="Segoe UI"/>
              </a:defRPr>
            </a:pPr>
            <a:r>
              <a:rPr sz="1200" dirty="0"/>
              <a:t>• Structured security event committed to SQLite.</a:t>
            </a:r>
          </a:p>
          <a:p>
            <a:pPr>
              <a:spcAft>
                <a:spcPts val="400"/>
              </a:spcAft>
              <a:defRPr sz="800">
                <a:solidFill>
                  <a:srgbClr val="E2E8F0"/>
                </a:solidFill>
                <a:latin typeface="Segoe UI"/>
              </a:defRPr>
            </a:pPr>
            <a:r>
              <a:rPr sz="1200" dirty="0"/>
              <a:t>• Event stores </a:t>
            </a:r>
            <a:r>
              <a:rPr sz="1200" dirty="0" err="1"/>
              <a:t>audit_hash</a:t>
            </a:r>
            <a:r>
              <a:rPr sz="1200" dirty="0"/>
              <a:t> foreign reference.</a:t>
            </a:r>
          </a:p>
          <a:p>
            <a:pPr>
              <a:spcAft>
                <a:spcPts val="400"/>
              </a:spcAft>
              <a:defRPr sz="800">
                <a:solidFill>
                  <a:srgbClr val="E2E8F0"/>
                </a:solidFill>
                <a:latin typeface="Segoe UI"/>
              </a:defRPr>
            </a:pPr>
            <a:r>
              <a:rPr sz="1200" dirty="0"/>
              <a:t>• Live UI updates: counters, event log, and audit verification table.</a:t>
            </a:r>
          </a:p>
        </p:txBody>
      </p:sp>
      <p:sp>
        <p:nvSpPr>
          <p:cNvPr id="24" name="Rounded Rectangle 23"/>
          <p:cNvSpPr/>
          <p:nvPr/>
        </p:nvSpPr>
        <p:spPr>
          <a:xfrm>
            <a:off x="731520" y="5760720"/>
            <a:ext cx="10716768" cy="685800"/>
          </a:xfrm>
          <a:prstGeom prst="roundRect">
            <a:avLst/>
          </a:prstGeom>
          <a:solidFill>
            <a:srgbClr val="182135"/>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14400" y="5833872"/>
            <a:ext cx="10332720" cy="415498"/>
          </a:xfrm>
          <a:prstGeom prst="rect">
            <a:avLst/>
          </a:prstGeom>
          <a:noFill/>
        </p:spPr>
        <p:txBody>
          <a:bodyPr wrap="square">
            <a:spAutoFit/>
          </a:bodyPr>
          <a:lstStyle/>
          <a:p>
            <a:pPr>
              <a:defRPr sz="950" b="1">
                <a:solidFill>
                  <a:srgbClr val="00E5FF"/>
                </a:solidFill>
                <a:latin typeface="Segoe UI"/>
              </a:defRPr>
            </a:pPr>
            <a:r>
              <a:rPr sz="1050" dirty="0"/>
              <a:t>DUAL-LAYER CONTROL ARCHITECTURE: The Security Gateway policy decision is an application-level control (inspecting payload and metadata). Docker network segmentation provides a separate, physical network-level control (preventing raw socket bypass between zones).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84048"/>
            <a:ext cx="10515600" cy="256032"/>
          </a:xfrm>
          <a:prstGeom prst="rect">
            <a:avLst/>
          </a:prstGeom>
          <a:noFill/>
        </p:spPr>
        <p:txBody>
          <a:bodyPr wrap="square" lIns="0" tIns="0" rIns="0" bIns="0">
            <a:spAutoFit/>
          </a:bodyPr>
          <a:lstStyle/>
          <a:p>
            <a:pPr>
              <a:defRPr sz="1000" b="1">
                <a:solidFill>
                  <a:srgbClr val="00E5FF"/>
                </a:solidFill>
                <a:latin typeface="Segoe UI"/>
              </a:defRPr>
            </a:pPr>
            <a:r>
              <a:t>06 // CRYPTOGRAPHIC ASSURANCE</a:t>
            </a:r>
          </a:p>
        </p:txBody>
      </p:sp>
      <p:sp>
        <p:nvSpPr>
          <p:cNvPr id="4" name="TextBox 3"/>
          <p:cNvSpPr txBox="1"/>
          <p:nvPr/>
        </p:nvSpPr>
        <p:spPr>
          <a:xfrm>
            <a:off x="731520" y="658368"/>
            <a:ext cx="10698480" cy="566928"/>
          </a:xfrm>
          <a:prstGeom prst="rect">
            <a:avLst/>
          </a:prstGeom>
          <a:noFill/>
        </p:spPr>
        <p:txBody>
          <a:bodyPr wrap="square" lIns="0" tIns="0" rIns="0" bIns="0">
            <a:spAutoFit/>
          </a:bodyPr>
          <a:lstStyle/>
          <a:p>
            <a:pPr>
              <a:defRPr sz="2200" b="1">
                <a:solidFill>
                  <a:srgbClr val="F8FAFC"/>
                </a:solidFill>
                <a:latin typeface="Segoe UI"/>
              </a:defRPr>
            </a:pPr>
            <a:r>
              <a:t>Security Engineering &amp; Verifiable Trust Architecture</a:t>
            </a:r>
          </a:p>
        </p:txBody>
      </p:sp>
      <p:sp>
        <p:nvSpPr>
          <p:cNvPr id="5" name="TextBox 4"/>
          <p:cNvSpPr txBox="1"/>
          <p:nvPr/>
        </p:nvSpPr>
        <p:spPr>
          <a:xfrm>
            <a:off x="731520" y="1243584"/>
            <a:ext cx="10698480" cy="292608"/>
          </a:xfrm>
          <a:prstGeom prst="rect">
            <a:avLst/>
          </a:prstGeom>
          <a:noFill/>
        </p:spPr>
        <p:txBody>
          <a:bodyPr wrap="square" lIns="0" tIns="0" rIns="0" bIns="0">
            <a:spAutoFit/>
          </a:bodyPr>
          <a:lstStyle/>
          <a:p>
            <a:pPr>
              <a:defRPr sz="1100">
                <a:solidFill>
                  <a:srgbClr val="E2E8F0"/>
                </a:solidFill>
                <a:latin typeface="Segoe UI"/>
              </a:defRPr>
            </a:pPr>
            <a:r>
              <a:t>How SafeArena uses SHA-256 hash chaining to detect tampering, and our defensible threat boundaries.</a:t>
            </a:r>
          </a:p>
        </p:txBody>
      </p:sp>
      <p:sp>
        <p:nvSpPr>
          <p:cNvPr id="6" name="Rounded Rectangle 5"/>
          <p:cNvSpPr/>
          <p:nvPr/>
        </p:nvSpPr>
        <p:spPr>
          <a:xfrm>
            <a:off x="731520" y="1691640"/>
            <a:ext cx="3328416" cy="4297680"/>
          </a:xfrm>
          <a:prstGeom prst="roundRect">
            <a:avLst/>
          </a:prstGeom>
          <a:solidFill>
            <a:srgbClr val="111827"/>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60120" y="1874520"/>
            <a:ext cx="2011680" cy="237744"/>
          </a:xfrm>
          <a:prstGeom prst="round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850" b="1">
                <a:solidFill>
                  <a:srgbClr val="0A0E17"/>
                </a:solidFill>
                <a:latin typeface="Segoe UI"/>
              </a:defRPr>
            </a:pPr>
            <a:r>
              <a:rPr sz="1000" dirty="0"/>
              <a:t>SHA-256 HASH CHAINING</a:t>
            </a:r>
          </a:p>
        </p:txBody>
      </p:sp>
      <p:sp>
        <p:nvSpPr>
          <p:cNvPr id="8" name="TextBox 7"/>
          <p:cNvSpPr txBox="1"/>
          <p:nvPr/>
        </p:nvSpPr>
        <p:spPr>
          <a:xfrm>
            <a:off x="960120" y="2194560"/>
            <a:ext cx="2871216" cy="3580467"/>
          </a:xfrm>
          <a:prstGeom prst="rect">
            <a:avLst/>
          </a:prstGeom>
          <a:noFill/>
        </p:spPr>
        <p:txBody>
          <a:bodyPr wrap="square">
            <a:spAutoFit/>
          </a:bodyPr>
          <a:lstStyle/>
          <a:p>
            <a:pPr>
              <a:spcAft>
                <a:spcPts val="800"/>
              </a:spcAft>
              <a:defRPr sz="1200" b="1">
                <a:solidFill>
                  <a:srgbClr val="F8FAFC"/>
                </a:solidFill>
                <a:latin typeface="Segoe UI"/>
              </a:defRPr>
            </a:pPr>
            <a:r>
              <a:rPr sz="1600" dirty="0"/>
              <a:t>Mathematical Integrity Mechanics</a:t>
            </a:r>
          </a:p>
          <a:p>
            <a:pPr>
              <a:spcAft>
                <a:spcPts val="600"/>
              </a:spcAft>
            </a:pPr>
            <a:r>
              <a:rPr sz="1200" b="1" dirty="0">
                <a:solidFill>
                  <a:srgbClr val="F8FAFC"/>
                </a:solidFill>
              </a:rPr>
              <a:t>Append-Only JSONL: </a:t>
            </a:r>
            <a:r>
              <a:rPr sz="1200" b="0" dirty="0">
                <a:solidFill>
                  <a:srgbClr val="E2E8F0"/>
                </a:solidFill>
              </a:rPr>
              <a:t>Every decision appends a canonical JSON line to data/</a:t>
            </a:r>
            <a:r>
              <a:rPr sz="1200" b="0" dirty="0" err="1">
                <a:solidFill>
                  <a:srgbClr val="E2E8F0"/>
                </a:solidFill>
              </a:rPr>
              <a:t>audit_log.jsonl</a:t>
            </a:r>
            <a:r>
              <a:rPr sz="1200" b="0" dirty="0">
                <a:solidFill>
                  <a:srgbClr val="E2E8F0"/>
                </a:solidFill>
              </a:rPr>
              <a:t>.</a:t>
            </a:r>
          </a:p>
          <a:p>
            <a:pPr>
              <a:spcAft>
                <a:spcPts val="600"/>
              </a:spcAft>
            </a:pPr>
            <a:r>
              <a:rPr sz="1200" b="1" dirty="0">
                <a:solidFill>
                  <a:srgbClr val="F8FAFC"/>
                </a:solidFill>
              </a:rPr>
              <a:t>Canonical Serialization: </a:t>
            </a:r>
            <a:r>
              <a:rPr sz="1200" b="0" dirty="0" err="1">
                <a:solidFill>
                  <a:srgbClr val="E2E8F0"/>
                </a:solidFill>
              </a:rPr>
              <a:t>json.dumps</a:t>
            </a:r>
            <a:r>
              <a:rPr sz="1200" b="0" dirty="0">
                <a:solidFill>
                  <a:srgbClr val="E2E8F0"/>
                </a:solidFill>
              </a:rPr>
              <a:t> with </a:t>
            </a:r>
            <a:r>
              <a:rPr sz="1200" b="0" dirty="0" err="1">
                <a:solidFill>
                  <a:srgbClr val="E2E8F0"/>
                </a:solidFill>
              </a:rPr>
              <a:t>sort_keys</a:t>
            </a:r>
            <a:r>
              <a:rPr sz="1200" b="0" dirty="0">
                <a:solidFill>
                  <a:srgbClr val="E2E8F0"/>
                </a:solidFill>
              </a:rPr>
              <a:t>=True and </a:t>
            </a:r>
            <a:r>
              <a:rPr sz="1200" b="0" dirty="0" err="1">
                <a:solidFill>
                  <a:srgbClr val="E2E8F0"/>
                </a:solidFill>
              </a:rPr>
              <a:t>ensure_ascii</a:t>
            </a:r>
            <a:r>
              <a:rPr sz="1200" b="0" dirty="0">
                <a:solidFill>
                  <a:srgbClr val="E2E8F0"/>
                </a:solidFill>
              </a:rPr>
              <a:t>=True eliminates encoding ambiguity.</a:t>
            </a:r>
          </a:p>
          <a:p>
            <a:pPr>
              <a:spcAft>
                <a:spcPts val="600"/>
              </a:spcAft>
            </a:pPr>
            <a:r>
              <a:rPr sz="1200" b="1" dirty="0">
                <a:solidFill>
                  <a:srgbClr val="F8FAFC"/>
                </a:solidFill>
              </a:rPr>
              <a:t>Cryptographic Linking: </a:t>
            </a:r>
            <a:r>
              <a:rPr sz="1200" b="0" dirty="0">
                <a:solidFill>
                  <a:srgbClr val="E2E8F0"/>
                </a:solidFill>
              </a:rPr>
              <a:t>Record N contains </a:t>
            </a:r>
            <a:r>
              <a:rPr sz="1200" b="0" dirty="0" err="1">
                <a:solidFill>
                  <a:srgbClr val="E2E8F0"/>
                </a:solidFill>
              </a:rPr>
              <a:t>prev_hash</a:t>
            </a:r>
            <a:r>
              <a:rPr sz="1200" b="0" dirty="0">
                <a:solidFill>
                  <a:srgbClr val="E2E8F0"/>
                </a:solidFill>
              </a:rPr>
              <a:t> = SHA256(Record N-1). First record anchors to GENESIS.</a:t>
            </a:r>
          </a:p>
          <a:p>
            <a:pPr>
              <a:spcAft>
                <a:spcPts val="600"/>
              </a:spcAft>
            </a:pPr>
            <a:r>
              <a:rPr sz="1200" b="1" dirty="0">
                <a:solidFill>
                  <a:srgbClr val="F8FAFC"/>
                </a:solidFill>
              </a:rPr>
              <a:t>Head Checkpoint: </a:t>
            </a:r>
            <a:r>
              <a:rPr sz="1200" b="0" dirty="0">
                <a:solidFill>
                  <a:srgbClr val="E2E8F0"/>
                </a:solidFill>
              </a:rPr>
              <a:t>Latest count and head hash written atomically to _</a:t>
            </a:r>
            <a:r>
              <a:rPr sz="1200" b="0" dirty="0" err="1">
                <a:solidFill>
                  <a:srgbClr val="E2E8F0"/>
                </a:solidFill>
              </a:rPr>
              <a:t>head.json</a:t>
            </a:r>
            <a:r>
              <a:rPr sz="1200" b="0" dirty="0">
                <a:solidFill>
                  <a:srgbClr val="E2E8F0"/>
                </a:solidFill>
              </a:rPr>
              <a:t>.</a:t>
            </a:r>
          </a:p>
          <a:p>
            <a:pPr>
              <a:spcAft>
                <a:spcPts val="600"/>
              </a:spcAft>
            </a:pPr>
            <a:r>
              <a:rPr sz="1200" b="1" dirty="0">
                <a:solidFill>
                  <a:srgbClr val="F8FAFC"/>
                </a:solidFill>
              </a:rPr>
              <a:t>Tail Protection: </a:t>
            </a:r>
            <a:r>
              <a:rPr sz="1200" b="0" dirty="0">
                <a:solidFill>
                  <a:srgbClr val="E2E8F0"/>
                </a:solidFill>
              </a:rPr>
              <a:t>Deleting lines from the end of the log triggers a checkpoint count mismatch during verification.</a:t>
            </a:r>
          </a:p>
        </p:txBody>
      </p:sp>
      <p:sp>
        <p:nvSpPr>
          <p:cNvPr id="9" name="Rounded Rectangle 8"/>
          <p:cNvSpPr/>
          <p:nvPr/>
        </p:nvSpPr>
        <p:spPr>
          <a:xfrm>
            <a:off x="4425696" y="1691640"/>
            <a:ext cx="3328416" cy="4297680"/>
          </a:xfrm>
          <a:prstGeom prst="roundRect">
            <a:avLst/>
          </a:prstGeom>
          <a:solidFill>
            <a:srgbClr val="111827"/>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4654296" y="1874520"/>
            <a:ext cx="2011680" cy="237744"/>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850" b="1">
                <a:solidFill>
                  <a:srgbClr val="0A0E17"/>
                </a:solidFill>
                <a:latin typeface="Segoe UI"/>
              </a:defRPr>
            </a:pPr>
            <a:r>
              <a:rPr sz="1000" dirty="0"/>
              <a:t>TAMPER DETECTION PROOF</a:t>
            </a:r>
          </a:p>
        </p:txBody>
      </p:sp>
      <p:sp>
        <p:nvSpPr>
          <p:cNvPr id="11" name="TextBox 10"/>
          <p:cNvSpPr txBox="1"/>
          <p:nvPr/>
        </p:nvSpPr>
        <p:spPr>
          <a:xfrm>
            <a:off x="4654296" y="2194560"/>
            <a:ext cx="2871216" cy="3334246"/>
          </a:xfrm>
          <a:prstGeom prst="rect">
            <a:avLst/>
          </a:prstGeom>
          <a:noFill/>
        </p:spPr>
        <p:txBody>
          <a:bodyPr wrap="square">
            <a:spAutoFit/>
          </a:bodyPr>
          <a:lstStyle/>
          <a:p>
            <a:pPr>
              <a:spcAft>
                <a:spcPts val="800"/>
              </a:spcAft>
              <a:defRPr sz="1200" b="1">
                <a:solidFill>
                  <a:srgbClr val="F8FAFC"/>
                </a:solidFill>
                <a:latin typeface="Segoe UI"/>
              </a:defRPr>
            </a:pPr>
            <a:r>
              <a:rPr sz="1600" dirty="0"/>
              <a:t>Concrete Tamper Detection</a:t>
            </a:r>
          </a:p>
          <a:p>
            <a:pPr>
              <a:spcAft>
                <a:spcPts val="600"/>
              </a:spcAft>
            </a:pPr>
            <a:r>
              <a:rPr sz="1200" b="1" dirty="0">
                <a:solidFill>
                  <a:srgbClr val="F8FAFC"/>
                </a:solidFill>
              </a:rPr>
              <a:t>Tamper Scenario: </a:t>
            </a:r>
            <a:r>
              <a:rPr sz="1200" b="0" dirty="0">
                <a:solidFill>
                  <a:srgbClr val="E2E8F0"/>
                </a:solidFill>
              </a:rPr>
              <a:t>Adversary changes 1 character in Record #2 (e.g. BLOCKED → ALLOWED).</a:t>
            </a:r>
          </a:p>
          <a:p>
            <a:pPr>
              <a:spcAft>
                <a:spcPts val="600"/>
              </a:spcAft>
            </a:pPr>
            <a:r>
              <a:rPr sz="1200" b="1" dirty="0">
                <a:solidFill>
                  <a:srgbClr val="F8FAFC"/>
                </a:solidFill>
              </a:rPr>
              <a:t>Immediate Impact: </a:t>
            </a:r>
            <a:r>
              <a:rPr sz="1200" b="0" dirty="0">
                <a:solidFill>
                  <a:srgbClr val="E2E8F0"/>
                </a:solidFill>
              </a:rPr>
              <a:t>SHA-256 digest of Record #2 changes completely.</a:t>
            </a:r>
          </a:p>
          <a:p>
            <a:pPr>
              <a:spcAft>
                <a:spcPts val="600"/>
              </a:spcAft>
            </a:pPr>
            <a:r>
              <a:rPr sz="1200" b="1" dirty="0">
                <a:solidFill>
                  <a:srgbClr val="F8FAFC"/>
                </a:solidFill>
              </a:rPr>
              <a:t>Chain Break: </a:t>
            </a:r>
            <a:r>
              <a:rPr sz="1200" b="0" dirty="0">
                <a:solidFill>
                  <a:srgbClr val="E2E8F0"/>
                </a:solidFill>
              </a:rPr>
              <a:t>Record #3's </a:t>
            </a:r>
            <a:r>
              <a:rPr sz="1200" b="0" dirty="0" err="1">
                <a:solidFill>
                  <a:srgbClr val="E2E8F0"/>
                </a:solidFill>
              </a:rPr>
              <a:t>prev_hash</a:t>
            </a:r>
            <a:r>
              <a:rPr sz="1200" b="0" dirty="0">
                <a:solidFill>
                  <a:srgbClr val="E2E8F0"/>
                </a:solidFill>
              </a:rPr>
              <a:t> points to old hash #2. Mismatch detected!</a:t>
            </a:r>
          </a:p>
          <a:p>
            <a:pPr>
              <a:spcAft>
                <a:spcPts val="600"/>
              </a:spcAft>
            </a:pPr>
            <a:r>
              <a:rPr sz="1200" b="1" dirty="0">
                <a:solidFill>
                  <a:srgbClr val="F8FAFC"/>
                </a:solidFill>
              </a:rPr>
              <a:t>7 Automated Tamper Tests: </a:t>
            </a:r>
            <a:r>
              <a:rPr sz="1200" b="0" dirty="0">
                <a:solidFill>
                  <a:srgbClr val="E2E8F0"/>
                </a:solidFill>
              </a:rPr>
              <a:t>Validates against: Edit, </a:t>
            </a:r>
            <a:r>
              <a:rPr sz="1200" b="0" dirty="0" err="1">
                <a:solidFill>
                  <a:srgbClr val="E2E8F0"/>
                </a:solidFill>
              </a:rPr>
              <a:t>Edit+Rehash</a:t>
            </a:r>
            <a:r>
              <a:rPr sz="1200" b="0" dirty="0">
                <a:solidFill>
                  <a:srgbClr val="E2E8F0"/>
                </a:solidFill>
              </a:rPr>
              <a:t>, Middle Deletion, Reordering, Forged Insert, Tail Truncation, and Corrupt JSON lines.</a:t>
            </a:r>
          </a:p>
          <a:p>
            <a:pPr>
              <a:spcAft>
                <a:spcPts val="600"/>
              </a:spcAft>
            </a:pPr>
            <a:r>
              <a:rPr sz="1200" b="1" dirty="0">
                <a:solidFill>
                  <a:srgbClr val="F59E0B"/>
                </a:solidFill>
              </a:rPr>
              <a:t>Verified Outcome: </a:t>
            </a:r>
            <a:r>
              <a:rPr sz="1200" b="1" dirty="0">
                <a:solidFill>
                  <a:srgbClr val="F8FAFC"/>
                </a:solidFill>
              </a:rPr>
              <a:t>100% of simulated corruption attacks detected without modifying live log.</a:t>
            </a:r>
          </a:p>
        </p:txBody>
      </p:sp>
      <p:sp>
        <p:nvSpPr>
          <p:cNvPr id="12" name="Rounded Rectangle 11"/>
          <p:cNvSpPr/>
          <p:nvPr/>
        </p:nvSpPr>
        <p:spPr>
          <a:xfrm>
            <a:off x="8119872" y="1691640"/>
            <a:ext cx="3328416" cy="4297680"/>
          </a:xfrm>
          <a:prstGeom prst="roundRect">
            <a:avLst/>
          </a:prstGeom>
          <a:solidFill>
            <a:srgbClr val="111827"/>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8348472" y="1874520"/>
            <a:ext cx="2011680" cy="237744"/>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850" b="1">
                <a:solidFill>
                  <a:srgbClr val="0A0E17"/>
                </a:solidFill>
                <a:latin typeface="Segoe UI"/>
              </a:defRPr>
            </a:pPr>
            <a:r>
              <a:rPr sz="1000" dirty="0"/>
              <a:t>HONEST TRUST MODEL</a:t>
            </a:r>
          </a:p>
        </p:txBody>
      </p:sp>
      <p:sp>
        <p:nvSpPr>
          <p:cNvPr id="14" name="TextBox 13"/>
          <p:cNvSpPr txBox="1"/>
          <p:nvPr/>
        </p:nvSpPr>
        <p:spPr>
          <a:xfrm>
            <a:off x="8348472" y="2194560"/>
            <a:ext cx="2871216" cy="3806170"/>
          </a:xfrm>
          <a:prstGeom prst="rect">
            <a:avLst/>
          </a:prstGeom>
          <a:noFill/>
        </p:spPr>
        <p:txBody>
          <a:bodyPr wrap="square">
            <a:spAutoFit/>
          </a:bodyPr>
          <a:lstStyle/>
          <a:p>
            <a:pPr>
              <a:spcAft>
                <a:spcPts val="800"/>
              </a:spcAft>
              <a:defRPr sz="1200" b="1">
                <a:solidFill>
                  <a:srgbClr val="F8FAFC"/>
                </a:solidFill>
                <a:latin typeface="Segoe UI"/>
              </a:defRPr>
            </a:pPr>
            <a:r>
              <a:rPr sz="1400" dirty="0"/>
              <a:t>Defensible Threat Boundaries</a:t>
            </a:r>
          </a:p>
          <a:p>
            <a:pPr>
              <a:spcAft>
                <a:spcPts val="400"/>
              </a:spcAft>
              <a:defRPr sz="850">
                <a:solidFill>
                  <a:srgbClr val="E2E8F0"/>
                </a:solidFill>
                <a:latin typeface="Segoe UI"/>
              </a:defRPr>
            </a:pPr>
            <a:r>
              <a:rPr sz="1200" dirty="0"/>
              <a:t>• No Exaggerated Claims: We do not claim </a:t>
            </a:r>
            <a:r>
              <a:rPr sz="1200" dirty="0" err="1"/>
              <a:t>SafeArena</a:t>
            </a:r>
            <a:r>
              <a:rPr sz="1200" dirty="0"/>
              <a:t> is </a:t>
            </a:r>
            <a:r>
              <a:rPr sz="1200" dirty="0" err="1"/>
              <a:t>unhackable</a:t>
            </a:r>
            <a:r>
              <a:rPr sz="1200" dirty="0"/>
              <a:t> or a silver bullet.</a:t>
            </a:r>
          </a:p>
          <a:p>
            <a:pPr>
              <a:spcAft>
                <a:spcPts val="400"/>
              </a:spcAft>
              <a:defRPr sz="850">
                <a:solidFill>
                  <a:srgbClr val="E2E8F0"/>
                </a:solidFill>
                <a:latin typeface="Segoe UI"/>
              </a:defRPr>
            </a:pPr>
            <a:r>
              <a:rPr sz="1200" dirty="0"/>
              <a:t>• Documented Limitation: A local hash chain catches in-flight edits, reordering, and truncations. However, an attacker with full host OS root access could rewrite both the log and checkpoint.</a:t>
            </a:r>
          </a:p>
          <a:p>
            <a:pPr>
              <a:spcAft>
                <a:spcPts val="400"/>
              </a:spcAft>
              <a:defRPr sz="850">
                <a:solidFill>
                  <a:srgbClr val="E2E8F0"/>
                </a:solidFill>
                <a:latin typeface="Segoe UI"/>
              </a:defRPr>
            </a:pPr>
            <a:r>
              <a:rPr sz="1200" dirty="0"/>
              <a:t>• Production Roadmap for Root Protection:</a:t>
            </a:r>
          </a:p>
          <a:p>
            <a:pPr>
              <a:spcAft>
                <a:spcPts val="400"/>
              </a:spcAft>
              <a:defRPr sz="850">
                <a:solidFill>
                  <a:srgbClr val="00E5FF"/>
                </a:solidFill>
                <a:latin typeface="Segoe UI"/>
              </a:defRPr>
            </a:pPr>
            <a:r>
              <a:rPr sz="1200" dirty="0"/>
              <a:t>  1. External HMAC key stored in KMS / HSM.</a:t>
            </a:r>
          </a:p>
          <a:p>
            <a:pPr>
              <a:spcAft>
                <a:spcPts val="400"/>
              </a:spcAft>
              <a:defRPr sz="850">
                <a:solidFill>
                  <a:srgbClr val="00E5FF"/>
                </a:solidFill>
                <a:latin typeface="Segoe UI"/>
              </a:defRPr>
            </a:pPr>
            <a:r>
              <a:rPr sz="1200" dirty="0"/>
              <a:t>  2. WORM (Write-Once-Read-Many) S3 Object Lock storage.</a:t>
            </a:r>
          </a:p>
          <a:p>
            <a:pPr>
              <a:spcAft>
                <a:spcPts val="400"/>
              </a:spcAft>
              <a:defRPr sz="850">
                <a:solidFill>
                  <a:srgbClr val="00E5FF"/>
                </a:solidFill>
                <a:latin typeface="Segoe UI"/>
              </a:defRPr>
            </a:pPr>
            <a:r>
              <a:rPr sz="1200" dirty="0"/>
              <a:t>  3. Periodically publishing head hashes to an external public transparency log or blockchain.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84048"/>
            <a:ext cx="10515600" cy="256032"/>
          </a:xfrm>
          <a:prstGeom prst="rect">
            <a:avLst/>
          </a:prstGeom>
          <a:noFill/>
        </p:spPr>
        <p:txBody>
          <a:bodyPr wrap="square" lIns="0" tIns="0" rIns="0" bIns="0">
            <a:spAutoFit/>
          </a:bodyPr>
          <a:lstStyle/>
          <a:p>
            <a:pPr>
              <a:defRPr sz="1000" b="1">
                <a:solidFill>
                  <a:srgbClr val="00E5FF"/>
                </a:solidFill>
                <a:latin typeface="Segoe UI"/>
              </a:defRPr>
            </a:pPr>
            <a:r>
              <a:t>07 // OPERATOR DASHBOARD &amp; EVIDENCE</a:t>
            </a:r>
          </a:p>
        </p:txBody>
      </p:sp>
      <p:sp>
        <p:nvSpPr>
          <p:cNvPr id="4" name="TextBox 3"/>
          <p:cNvSpPr txBox="1"/>
          <p:nvPr/>
        </p:nvSpPr>
        <p:spPr>
          <a:xfrm>
            <a:off x="731520" y="658368"/>
            <a:ext cx="10698480" cy="566928"/>
          </a:xfrm>
          <a:prstGeom prst="rect">
            <a:avLst/>
          </a:prstGeom>
          <a:noFill/>
        </p:spPr>
        <p:txBody>
          <a:bodyPr wrap="square" lIns="0" tIns="0" rIns="0" bIns="0">
            <a:spAutoFit/>
          </a:bodyPr>
          <a:lstStyle/>
          <a:p>
            <a:pPr>
              <a:defRPr sz="2200" b="1">
                <a:solidFill>
                  <a:srgbClr val="F8FAFC"/>
                </a:solidFill>
                <a:latin typeface="Segoe UI"/>
              </a:defRPr>
            </a:pPr>
            <a:r>
              <a:t>The SafeArena Console: Live Telemetry &amp; Verification</a:t>
            </a:r>
          </a:p>
        </p:txBody>
      </p:sp>
      <p:sp>
        <p:nvSpPr>
          <p:cNvPr id="5" name="TextBox 4"/>
          <p:cNvSpPr txBox="1"/>
          <p:nvPr/>
        </p:nvSpPr>
        <p:spPr>
          <a:xfrm>
            <a:off x="731520" y="1243584"/>
            <a:ext cx="10698480" cy="215444"/>
          </a:xfrm>
          <a:prstGeom prst="rect">
            <a:avLst/>
          </a:prstGeom>
          <a:noFill/>
        </p:spPr>
        <p:txBody>
          <a:bodyPr wrap="square" lIns="0" tIns="0" rIns="0" bIns="0">
            <a:spAutoFit/>
          </a:bodyPr>
          <a:lstStyle/>
          <a:p>
            <a:pPr>
              <a:defRPr sz="1100">
                <a:solidFill>
                  <a:srgbClr val="E2E8F0"/>
                </a:solidFill>
                <a:latin typeface="Segoe UI"/>
              </a:defRPr>
            </a:pPr>
            <a:r>
              <a:rPr sz="1400" dirty="0"/>
              <a:t>A zero-dependency, high-visibility operator interface built with strict Content Security Policy and live verification.</a:t>
            </a:r>
          </a:p>
        </p:txBody>
      </p:sp>
      <p:sp>
        <p:nvSpPr>
          <p:cNvPr id="6" name="Rounded Rectangle 5"/>
          <p:cNvSpPr/>
          <p:nvPr/>
        </p:nvSpPr>
        <p:spPr>
          <a:xfrm>
            <a:off x="731520" y="1691640"/>
            <a:ext cx="6217920" cy="4160520"/>
          </a:xfrm>
          <a:prstGeom prst="roundRect">
            <a:avLst/>
          </a:prstGeom>
          <a:solidFill>
            <a:srgbClr val="111827"/>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afearena_dashboard.png"/>
          <p:cNvPicPr>
            <a:picLocks noChangeAspect="1"/>
          </p:cNvPicPr>
          <p:nvPr/>
        </p:nvPicPr>
        <p:blipFill>
          <a:blip r:embed="rId3"/>
          <a:stretch>
            <a:fillRect/>
          </a:stretch>
        </p:blipFill>
        <p:spPr>
          <a:xfrm>
            <a:off x="944880" y="1883664"/>
            <a:ext cx="5697149" cy="3754938"/>
          </a:xfrm>
          <a:prstGeom prst="rect">
            <a:avLst/>
          </a:prstGeom>
        </p:spPr>
      </p:pic>
      <p:sp>
        <p:nvSpPr>
          <p:cNvPr id="8" name="Rounded Rectangle 7"/>
          <p:cNvSpPr/>
          <p:nvPr/>
        </p:nvSpPr>
        <p:spPr>
          <a:xfrm>
            <a:off x="7132320" y="1691640"/>
            <a:ext cx="4315968" cy="4160520"/>
          </a:xfrm>
          <a:prstGeom prst="roundRect">
            <a:avLst/>
          </a:prstGeom>
          <a:solidFill>
            <a:srgbClr val="111827"/>
          </a:solidFill>
          <a:ln w="1270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7360920" y="1874519"/>
            <a:ext cx="2194560" cy="237744"/>
          </a:xfrm>
          <a:prstGeom prst="roundRect">
            <a:avLst/>
          </a:prstGeom>
          <a:solidFill>
            <a:srgbClr val="182135"/>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850" b="1">
                <a:solidFill>
                  <a:srgbClr val="00E5FF"/>
                </a:solidFill>
                <a:latin typeface="Segoe UI"/>
              </a:defRPr>
            </a:pPr>
            <a:r>
              <a:rPr sz="1050" dirty="0"/>
              <a:t>OPERATOR CAPABILITIES</a:t>
            </a:r>
          </a:p>
        </p:txBody>
      </p:sp>
      <p:sp>
        <p:nvSpPr>
          <p:cNvPr id="10" name="TextBox 9"/>
          <p:cNvSpPr txBox="1"/>
          <p:nvPr/>
        </p:nvSpPr>
        <p:spPr>
          <a:xfrm>
            <a:off x="7360920" y="2194560"/>
            <a:ext cx="3886200" cy="3264996"/>
          </a:xfrm>
          <a:prstGeom prst="rect">
            <a:avLst/>
          </a:prstGeom>
          <a:noFill/>
        </p:spPr>
        <p:txBody>
          <a:bodyPr wrap="square">
            <a:spAutoFit/>
          </a:bodyPr>
          <a:lstStyle/>
          <a:p>
            <a:pPr>
              <a:spcAft>
                <a:spcPts val="200"/>
              </a:spcAft>
              <a:defRPr sz="1000" b="1">
                <a:solidFill>
                  <a:srgbClr val="F8FAFC"/>
                </a:solidFill>
                <a:latin typeface="Segoe UI"/>
              </a:defRPr>
            </a:pPr>
            <a:r>
              <a:rPr sz="1200" dirty="0"/>
              <a:t>1. Live Zone Status &amp; One-Click Scenarios</a:t>
            </a:r>
          </a:p>
          <a:p>
            <a:pPr>
              <a:spcAft>
                <a:spcPts val="300"/>
              </a:spcAft>
              <a:defRPr sz="800">
                <a:solidFill>
                  <a:srgbClr val="E2E8F0"/>
                </a:solidFill>
                <a:latin typeface="Segoe UI"/>
              </a:defRPr>
            </a:pPr>
            <a:r>
              <a:rPr sz="1050" dirty="0"/>
              <a:t>• Interactive buttons trigger authorized </a:t>
            </a:r>
            <a:r>
              <a:rPr sz="1050" dirty="0" err="1"/>
              <a:t>Red→LLM</a:t>
            </a:r>
            <a:r>
              <a:rPr sz="1050" dirty="0"/>
              <a:t> queries, Blue defensive prompts, and unauthorized </a:t>
            </a:r>
            <a:r>
              <a:rPr sz="1050" dirty="0" err="1"/>
              <a:t>Red→Blue</a:t>
            </a:r>
            <a:r>
              <a:rPr sz="1050" dirty="0"/>
              <a:t> attempts.</a:t>
            </a:r>
          </a:p>
          <a:p>
            <a:pPr>
              <a:spcAft>
                <a:spcPts val="300"/>
              </a:spcAft>
              <a:defRPr sz="800">
                <a:solidFill>
                  <a:srgbClr val="E2E8F0"/>
                </a:solidFill>
                <a:latin typeface="Segoe UI"/>
              </a:defRPr>
            </a:pPr>
            <a:r>
              <a:rPr sz="1050" dirty="0"/>
              <a:t>• Gateway visual indicator switches dynamically from idle to active / blocked (turns red on 403 violations).</a:t>
            </a:r>
          </a:p>
          <a:p>
            <a:pPr>
              <a:spcAft>
                <a:spcPts val="200"/>
              </a:spcAft>
              <a:defRPr sz="1000" b="1">
                <a:solidFill>
                  <a:srgbClr val="F8FAFC"/>
                </a:solidFill>
                <a:latin typeface="Segoe UI"/>
              </a:defRPr>
            </a:pPr>
            <a:r>
              <a:rPr sz="1200" dirty="0"/>
              <a:t>2. Filterable Security Event Stream</a:t>
            </a:r>
          </a:p>
          <a:p>
            <a:pPr>
              <a:spcAft>
                <a:spcPts val="300"/>
              </a:spcAft>
              <a:defRPr sz="800">
                <a:solidFill>
                  <a:srgbClr val="E2E8F0"/>
                </a:solidFill>
                <a:latin typeface="Segoe UI"/>
              </a:defRPr>
            </a:pPr>
            <a:r>
              <a:rPr sz="1050" dirty="0"/>
              <a:t>• Real-time event feed powered by SQLite.</a:t>
            </a:r>
          </a:p>
          <a:p>
            <a:pPr>
              <a:spcAft>
                <a:spcPts val="300"/>
              </a:spcAft>
              <a:defRPr sz="800">
                <a:solidFill>
                  <a:srgbClr val="E2E8F0"/>
                </a:solidFill>
                <a:latin typeface="Segoe UI"/>
              </a:defRPr>
            </a:pPr>
            <a:r>
              <a:rPr sz="1050" dirty="0"/>
              <a:t>• Filter dynamically by severity (info, medium, high, critical), decision (ALLOWED, BLOCKED), zone, or text query.</a:t>
            </a:r>
          </a:p>
          <a:p>
            <a:pPr>
              <a:spcAft>
                <a:spcPts val="200"/>
              </a:spcAft>
              <a:defRPr sz="1000" b="1">
                <a:solidFill>
                  <a:srgbClr val="F8FAFC"/>
                </a:solidFill>
                <a:latin typeface="Segoe UI"/>
              </a:defRPr>
            </a:pPr>
            <a:r>
              <a:rPr sz="1200" dirty="0"/>
              <a:t>3. Instant Audit Chain Verification</a:t>
            </a:r>
          </a:p>
          <a:p>
            <a:pPr>
              <a:spcAft>
                <a:spcPts val="300"/>
              </a:spcAft>
              <a:defRPr sz="800">
                <a:solidFill>
                  <a:srgbClr val="E2E8F0"/>
                </a:solidFill>
                <a:latin typeface="Segoe UI"/>
              </a:defRPr>
            </a:pPr>
            <a:r>
              <a:rPr sz="1050" dirty="0"/>
              <a:t>• Single-click 'Verify audit chain' button recomputes every SHA-256 hash across the ledger in milliseconds.</a:t>
            </a:r>
          </a:p>
          <a:p>
            <a:pPr>
              <a:spcAft>
                <a:spcPts val="300"/>
              </a:spcAft>
              <a:defRPr sz="800">
                <a:solidFill>
                  <a:srgbClr val="E2E8F0"/>
                </a:solidFill>
                <a:latin typeface="Segoe UI"/>
              </a:defRPr>
            </a:pPr>
            <a:r>
              <a:rPr sz="1050" dirty="0"/>
              <a:t>• Displays verified head hash and total audit record count.</a:t>
            </a:r>
          </a:p>
          <a:p>
            <a:pPr>
              <a:spcAft>
                <a:spcPts val="200"/>
              </a:spcAft>
              <a:defRPr sz="1000" b="1">
                <a:solidFill>
                  <a:srgbClr val="F8FAFC"/>
                </a:solidFill>
                <a:latin typeface="Segoe UI"/>
              </a:defRPr>
            </a:pPr>
            <a:r>
              <a:rPr sz="1200" dirty="0"/>
              <a:t>4. 7-Scenario Automated Tamper Test</a:t>
            </a:r>
          </a:p>
          <a:p>
            <a:pPr>
              <a:spcAft>
                <a:spcPts val="300"/>
              </a:spcAft>
              <a:defRPr sz="800">
                <a:solidFill>
                  <a:srgbClr val="E2E8F0"/>
                </a:solidFill>
                <a:latin typeface="Segoe UI"/>
              </a:defRPr>
            </a:pPr>
            <a:r>
              <a:rPr sz="1050" dirty="0"/>
              <a:t>• Push-button self-test copies the log into a </a:t>
            </a:r>
            <a:r>
              <a:rPr sz="1050" dirty="0" err="1"/>
              <a:t>tempdir</a:t>
            </a:r>
            <a:r>
              <a:rPr sz="1050" dirty="0"/>
              <a:t> and corrupts copies 7 ways; asserts the verifier catches every single one.</a:t>
            </a:r>
          </a:p>
        </p:txBody>
      </p:sp>
      <p:sp>
        <p:nvSpPr>
          <p:cNvPr id="11" name="Rounded Rectangle 10"/>
          <p:cNvSpPr/>
          <p:nvPr/>
        </p:nvSpPr>
        <p:spPr>
          <a:xfrm>
            <a:off x="731520" y="5943600"/>
            <a:ext cx="10716768" cy="502920"/>
          </a:xfrm>
          <a:prstGeom prst="roundRect">
            <a:avLst/>
          </a:prstGeom>
          <a:solidFill>
            <a:srgbClr val="18213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4400" y="6016752"/>
            <a:ext cx="10332720" cy="261610"/>
          </a:xfrm>
          <a:prstGeom prst="rect">
            <a:avLst/>
          </a:prstGeom>
          <a:noFill/>
        </p:spPr>
        <p:txBody>
          <a:bodyPr wrap="square">
            <a:spAutoFit/>
          </a:bodyPr>
          <a:lstStyle/>
          <a:p>
            <a:pPr>
              <a:defRPr sz="950" b="1">
                <a:solidFill>
                  <a:srgbClr val="10B981"/>
                </a:solidFill>
                <a:latin typeface="Segoe UI"/>
              </a:defRPr>
            </a:pPr>
            <a:r>
              <a:rPr sz="1100" dirty="0"/>
              <a:t>VERIFIED TEST EVIDENCE: 103 Automated Tests Passing  ·  Playwright UI Smoke Test Passed  ·  Zero Inline Scripts (XSS Hardened)  ·  </a:t>
            </a:r>
            <a:r>
              <a:rPr sz="1100" dirty="0" err="1"/>
              <a:t>Parameterised</a:t>
            </a:r>
            <a:r>
              <a:rPr sz="1100" dirty="0"/>
              <a:t> SQL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84048"/>
            <a:ext cx="10515600" cy="256032"/>
          </a:xfrm>
          <a:prstGeom prst="rect">
            <a:avLst/>
          </a:prstGeom>
          <a:noFill/>
        </p:spPr>
        <p:txBody>
          <a:bodyPr wrap="square" lIns="0" tIns="0" rIns="0" bIns="0">
            <a:spAutoFit/>
          </a:bodyPr>
          <a:lstStyle/>
          <a:p>
            <a:pPr>
              <a:defRPr sz="1000" b="1">
                <a:solidFill>
                  <a:srgbClr val="00E5FF"/>
                </a:solidFill>
                <a:latin typeface="Segoe UI"/>
              </a:defRPr>
            </a:pPr>
            <a:r>
              <a:t>08 // TECHNICAL IMPLEMENTATION</a:t>
            </a:r>
          </a:p>
        </p:txBody>
      </p:sp>
      <p:sp>
        <p:nvSpPr>
          <p:cNvPr id="4" name="TextBox 3"/>
          <p:cNvSpPr txBox="1"/>
          <p:nvPr/>
        </p:nvSpPr>
        <p:spPr>
          <a:xfrm>
            <a:off x="731520" y="658368"/>
            <a:ext cx="10698480" cy="566928"/>
          </a:xfrm>
          <a:prstGeom prst="rect">
            <a:avLst/>
          </a:prstGeom>
          <a:noFill/>
        </p:spPr>
        <p:txBody>
          <a:bodyPr wrap="square" lIns="0" tIns="0" rIns="0" bIns="0">
            <a:spAutoFit/>
          </a:bodyPr>
          <a:lstStyle/>
          <a:p>
            <a:pPr>
              <a:defRPr sz="2200" b="1">
                <a:solidFill>
                  <a:srgbClr val="F8FAFC"/>
                </a:solidFill>
                <a:latin typeface="Segoe UI"/>
              </a:defRPr>
            </a:pPr>
            <a:r>
              <a:t>SafeArena Technology Stack &amp; Engineering Status</a:t>
            </a:r>
          </a:p>
        </p:txBody>
      </p:sp>
      <p:sp>
        <p:nvSpPr>
          <p:cNvPr id="5" name="TextBox 4"/>
          <p:cNvSpPr txBox="1"/>
          <p:nvPr/>
        </p:nvSpPr>
        <p:spPr>
          <a:xfrm>
            <a:off x="731520" y="1243584"/>
            <a:ext cx="10698480" cy="215444"/>
          </a:xfrm>
          <a:prstGeom prst="rect">
            <a:avLst/>
          </a:prstGeom>
          <a:noFill/>
        </p:spPr>
        <p:txBody>
          <a:bodyPr wrap="square" lIns="0" tIns="0" rIns="0" bIns="0">
            <a:spAutoFit/>
          </a:bodyPr>
          <a:lstStyle/>
          <a:p>
            <a:pPr>
              <a:defRPr sz="1100">
                <a:solidFill>
                  <a:srgbClr val="E2E8F0"/>
                </a:solidFill>
                <a:latin typeface="Segoe UI"/>
              </a:defRPr>
            </a:pPr>
            <a:r>
              <a:rPr sz="1400" dirty="0"/>
              <a:t>Grounded in clean, hardened primitives with an honest distinction between implemented features and future roadmap.</a:t>
            </a:r>
          </a:p>
        </p:txBody>
      </p:sp>
      <p:sp>
        <p:nvSpPr>
          <p:cNvPr id="6" name="Rounded Rectangle 5"/>
          <p:cNvSpPr/>
          <p:nvPr/>
        </p:nvSpPr>
        <p:spPr>
          <a:xfrm>
            <a:off x="731520" y="1691640"/>
            <a:ext cx="2450592" cy="4251960"/>
          </a:xfrm>
          <a:prstGeom prst="roundRect">
            <a:avLst/>
          </a:prstGeom>
          <a:solidFill>
            <a:srgbClr val="111827"/>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14400" y="1874520"/>
            <a:ext cx="2011680" cy="237744"/>
          </a:xfrm>
          <a:prstGeom prst="round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850" b="1">
                <a:solidFill>
                  <a:srgbClr val="0A0E17"/>
                </a:solidFill>
                <a:latin typeface="Segoe UI"/>
              </a:defRPr>
            </a:pPr>
            <a:r>
              <a:rPr sz="1000" dirty="0"/>
              <a:t>GATEWAY &amp; BACKEND</a:t>
            </a:r>
          </a:p>
        </p:txBody>
      </p:sp>
      <p:sp>
        <p:nvSpPr>
          <p:cNvPr id="8" name="Rounded Rectangle 7"/>
          <p:cNvSpPr/>
          <p:nvPr/>
        </p:nvSpPr>
        <p:spPr>
          <a:xfrm>
            <a:off x="914400" y="2194560"/>
            <a:ext cx="1645920" cy="201168"/>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750" b="1">
                <a:solidFill>
                  <a:srgbClr val="0A0E17"/>
                </a:solidFill>
                <a:latin typeface="Segoe UI"/>
              </a:defRPr>
            </a:pPr>
            <a:r>
              <a:rPr sz="900" dirty="0"/>
              <a:t>IMPLEMENTED &amp; VERIFIED</a:t>
            </a:r>
          </a:p>
        </p:txBody>
      </p:sp>
      <p:sp>
        <p:nvSpPr>
          <p:cNvPr id="9" name="TextBox 8"/>
          <p:cNvSpPr txBox="1"/>
          <p:nvPr/>
        </p:nvSpPr>
        <p:spPr>
          <a:xfrm>
            <a:off x="914400" y="2468880"/>
            <a:ext cx="2084831" cy="2728952"/>
          </a:xfrm>
          <a:prstGeom prst="rect">
            <a:avLst/>
          </a:prstGeom>
          <a:noFill/>
        </p:spPr>
        <p:txBody>
          <a:bodyPr wrap="square">
            <a:spAutoFit/>
          </a:bodyPr>
          <a:lstStyle/>
          <a:p>
            <a:pPr>
              <a:spcAft>
                <a:spcPts val="600"/>
              </a:spcAft>
              <a:defRPr sz="1100" b="1">
                <a:solidFill>
                  <a:srgbClr val="F8FAFC"/>
                </a:solidFill>
                <a:latin typeface="Segoe UI"/>
              </a:defRPr>
            </a:pPr>
            <a:r>
              <a:rPr sz="1600" dirty="0"/>
              <a:t>Python 3.12 / Flask 3.1</a:t>
            </a:r>
          </a:p>
          <a:p>
            <a:pPr>
              <a:spcAft>
                <a:spcPts val="500"/>
              </a:spcAft>
              <a:defRPr sz="850">
                <a:solidFill>
                  <a:srgbClr val="E2E8F0"/>
                </a:solidFill>
                <a:latin typeface="Segoe UI"/>
              </a:defRPr>
            </a:pPr>
            <a:r>
              <a:rPr sz="1050" dirty="0"/>
              <a:t>• Modular Core: Engine modules (policy.py, gateway.py, audit.py, events.py) are completely framework-agnostic.</a:t>
            </a:r>
          </a:p>
          <a:p>
            <a:pPr>
              <a:spcAft>
                <a:spcPts val="500"/>
              </a:spcAft>
              <a:defRPr sz="850">
                <a:solidFill>
                  <a:srgbClr val="E2E8F0"/>
                </a:solidFill>
                <a:latin typeface="Segoe UI"/>
              </a:defRPr>
            </a:pPr>
            <a:r>
              <a:rPr sz="1050" dirty="0"/>
              <a:t>• </a:t>
            </a:r>
            <a:r>
              <a:rPr sz="1050" dirty="0" err="1"/>
              <a:t>FastAPI</a:t>
            </a:r>
            <a:r>
              <a:rPr sz="1050" dirty="0"/>
              <a:t> Port-Ready: Original MVP envisioned in </a:t>
            </a:r>
            <a:r>
              <a:rPr sz="1050" dirty="0" err="1"/>
              <a:t>FastAPI</a:t>
            </a:r>
            <a:r>
              <a:rPr sz="1050" dirty="0"/>
              <a:t>; built in Flask for offline zero-dep testability; app.py rewrite ready.</a:t>
            </a:r>
          </a:p>
          <a:p>
            <a:pPr>
              <a:spcAft>
                <a:spcPts val="500"/>
              </a:spcAft>
              <a:defRPr sz="850">
                <a:solidFill>
                  <a:srgbClr val="E2E8F0"/>
                </a:solidFill>
                <a:latin typeface="Segoe UI"/>
              </a:defRPr>
            </a:pPr>
            <a:r>
              <a:rPr sz="1050" dirty="0"/>
              <a:t>• Security Controls: Host/Origin header validation, strict CSP, rate limiting on POSTs, </a:t>
            </a:r>
            <a:r>
              <a:rPr sz="1050" dirty="0" err="1"/>
              <a:t>parameterised</a:t>
            </a:r>
            <a:r>
              <a:rPr sz="1050" dirty="0"/>
              <a:t> queries.</a:t>
            </a:r>
          </a:p>
        </p:txBody>
      </p:sp>
      <p:sp>
        <p:nvSpPr>
          <p:cNvPr id="10" name="Rounded Rectangle 9"/>
          <p:cNvSpPr/>
          <p:nvPr/>
        </p:nvSpPr>
        <p:spPr>
          <a:xfrm>
            <a:off x="3483864" y="1691640"/>
            <a:ext cx="2450592" cy="4251960"/>
          </a:xfrm>
          <a:prstGeom prst="roundRect">
            <a:avLst/>
          </a:prstGeom>
          <a:solidFill>
            <a:srgbClr val="111827"/>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3666744" y="1874520"/>
            <a:ext cx="2011680" cy="237744"/>
          </a:xfrm>
          <a:prstGeom prst="round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850" b="1">
                <a:solidFill>
                  <a:srgbClr val="F8FAFC"/>
                </a:solidFill>
                <a:latin typeface="Segoe UI"/>
              </a:defRPr>
            </a:pPr>
            <a:r>
              <a:rPr sz="1000" dirty="0"/>
              <a:t>ISOLATION &amp; DOCKER</a:t>
            </a:r>
          </a:p>
        </p:txBody>
      </p:sp>
      <p:sp>
        <p:nvSpPr>
          <p:cNvPr id="12" name="Rounded Rectangle 11"/>
          <p:cNvSpPr/>
          <p:nvPr/>
        </p:nvSpPr>
        <p:spPr>
          <a:xfrm>
            <a:off x="3666744" y="2194560"/>
            <a:ext cx="1828800" cy="201168"/>
          </a:xfrm>
          <a:prstGeom prst="round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750" b="1">
                <a:solidFill>
                  <a:srgbClr val="0A0E17"/>
                </a:solidFill>
                <a:latin typeface="Segoe UI"/>
              </a:defRPr>
            </a:pPr>
            <a:r>
              <a:rPr sz="900" dirty="0"/>
              <a:t>COMPOSE TOPOLOGY READY</a:t>
            </a:r>
          </a:p>
        </p:txBody>
      </p:sp>
      <p:sp>
        <p:nvSpPr>
          <p:cNvPr id="13" name="TextBox 12"/>
          <p:cNvSpPr txBox="1"/>
          <p:nvPr/>
        </p:nvSpPr>
        <p:spPr>
          <a:xfrm>
            <a:off x="3666744" y="2468880"/>
            <a:ext cx="2084831" cy="3116238"/>
          </a:xfrm>
          <a:prstGeom prst="rect">
            <a:avLst/>
          </a:prstGeom>
          <a:noFill/>
        </p:spPr>
        <p:txBody>
          <a:bodyPr wrap="square">
            <a:spAutoFit/>
          </a:bodyPr>
          <a:lstStyle/>
          <a:p>
            <a:pPr>
              <a:spcAft>
                <a:spcPts val="600"/>
              </a:spcAft>
              <a:defRPr sz="1100" b="1">
                <a:solidFill>
                  <a:srgbClr val="F8FAFC"/>
                </a:solidFill>
                <a:latin typeface="Segoe UI"/>
              </a:defRPr>
            </a:pPr>
            <a:r>
              <a:rPr sz="1600" dirty="0"/>
              <a:t>Multi-Container Topology</a:t>
            </a:r>
          </a:p>
          <a:p>
            <a:pPr>
              <a:spcAft>
                <a:spcPts val="500"/>
              </a:spcAft>
              <a:defRPr sz="850">
                <a:solidFill>
                  <a:srgbClr val="E2E8F0"/>
                </a:solidFill>
                <a:latin typeface="Segoe UI"/>
              </a:defRPr>
            </a:pPr>
            <a:r>
              <a:rPr sz="1050" dirty="0"/>
              <a:t>• Docker Compose v2: 4 dedicated containers (gateway, red-service, blue-service, </a:t>
            </a:r>
            <a:r>
              <a:rPr sz="1050" dirty="0" err="1"/>
              <a:t>llm</a:t>
            </a:r>
            <a:r>
              <a:rPr sz="1050" dirty="0"/>
              <a:t>-service).</a:t>
            </a:r>
          </a:p>
          <a:p>
            <a:pPr>
              <a:spcAft>
                <a:spcPts val="500"/>
              </a:spcAft>
              <a:defRPr sz="850">
                <a:solidFill>
                  <a:srgbClr val="E2E8F0"/>
                </a:solidFill>
                <a:latin typeface="Segoe UI"/>
              </a:defRPr>
            </a:pPr>
            <a:r>
              <a:rPr sz="1050" dirty="0"/>
              <a:t>• Isolated Bridges: </a:t>
            </a:r>
            <a:r>
              <a:rPr sz="1050" dirty="0" err="1"/>
              <a:t>red_net</a:t>
            </a:r>
            <a:r>
              <a:rPr sz="1050" dirty="0"/>
              <a:t>, </a:t>
            </a:r>
            <a:r>
              <a:rPr sz="1050" dirty="0" err="1"/>
              <a:t>blue_net</a:t>
            </a:r>
            <a:r>
              <a:rPr sz="1050" dirty="0"/>
              <a:t>, </a:t>
            </a:r>
            <a:r>
              <a:rPr sz="1050" dirty="0" err="1"/>
              <a:t>llm_net</a:t>
            </a:r>
            <a:r>
              <a:rPr sz="1050" dirty="0"/>
              <a:t> configured with internal: true.</a:t>
            </a:r>
          </a:p>
          <a:p>
            <a:pPr>
              <a:spcAft>
                <a:spcPts val="500"/>
              </a:spcAft>
              <a:defRPr sz="850">
                <a:solidFill>
                  <a:srgbClr val="E2E8F0"/>
                </a:solidFill>
                <a:latin typeface="Segoe UI"/>
              </a:defRPr>
            </a:pPr>
            <a:r>
              <a:rPr sz="1050" dirty="0"/>
              <a:t>• Container Hardening: </a:t>
            </a:r>
            <a:r>
              <a:rPr sz="1050" dirty="0" err="1"/>
              <a:t>read_only</a:t>
            </a:r>
            <a:r>
              <a:rPr sz="1050" dirty="0"/>
              <a:t>: true, </a:t>
            </a:r>
            <a:r>
              <a:rPr sz="1050" dirty="0" err="1"/>
              <a:t>tmpfs</a:t>
            </a:r>
            <a:r>
              <a:rPr sz="1050" dirty="0"/>
              <a:t>: [/</a:t>
            </a:r>
            <a:r>
              <a:rPr sz="1050" dirty="0" err="1"/>
              <a:t>tmp</a:t>
            </a:r>
            <a:r>
              <a:rPr sz="1050" dirty="0"/>
              <a:t>], </a:t>
            </a:r>
            <a:r>
              <a:rPr sz="1050" dirty="0" err="1"/>
              <a:t>cap_drop</a:t>
            </a:r>
            <a:r>
              <a:rPr sz="1050" dirty="0"/>
              <a:t>: [ALL], </a:t>
            </a:r>
            <a:r>
              <a:rPr sz="1050" dirty="0" err="1"/>
              <a:t>security_opt</a:t>
            </a:r>
            <a:r>
              <a:rPr sz="1050" dirty="0"/>
              <a:t>: [</a:t>
            </a:r>
            <a:r>
              <a:rPr sz="1050" dirty="0" err="1"/>
              <a:t>no-new-privileges:true</a:t>
            </a:r>
            <a:r>
              <a:rPr sz="1050" dirty="0"/>
              <a:t>].</a:t>
            </a:r>
          </a:p>
          <a:p>
            <a:pPr>
              <a:spcAft>
                <a:spcPts val="500"/>
              </a:spcAft>
              <a:defRPr sz="850">
                <a:solidFill>
                  <a:srgbClr val="E2E8F0"/>
                </a:solidFill>
                <a:latin typeface="Segoe UI"/>
              </a:defRPr>
            </a:pPr>
            <a:r>
              <a:rPr sz="1050" dirty="0"/>
              <a:t>• Status: Local simulation verified; Docker topology verified via compose unit tests.</a:t>
            </a:r>
          </a:p>
        </p:txBody>
      </p:sp>
      <p:sp>
        <p:nvSpPr>
          <p:cNvPr id="14" name="Rounded Rectangle 13"/>
          <p:cNvSpPr/>
          <p:nvPr/>
        </p:nvSpPr>
        <p:spPr>
          <a:xfrm>
            <a:off x="6236208" y="1691640"/>
            <a:ext cx="2450592" cy="4251960"/>
          </a:xfrm>
          <a:prstGeom prst="roundRect">
            <a:avLst/>
          </a:prstGeom>
          <a:solidFill>
            <a:srgbClr val="111827"/>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6419088" y="1874520"/>
            <a:ext cx="2011680" cy="237744"/>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850" b="1">
                <a:solidFill>
                  <a:srgbClr val="0A0E17"/>
                </a:solidFill>
                <a:latin typeface="Segoe UI"/>
              </a:defRPr>
            </a:pPr>
            <a:r>
              <a:rPr sz="1000" dirty="0"/>
              <a:t>AUDIT &amp; EVENT STORAGE</a:t>
            </a:r>
          </a:p>
        </p:txBody>
      </p:sp>
      <p:sp>
        <p:nvSpPr>
          <p:cNvPr id="16" name="Rounded Rectangle 15"/>
          <p:cNvSpPr/>
          <p:nvPr/>
        </p:nvSpPr>
        <p:spPr>
          <a:xfrm>
            <a:off x="6419088" y="2194560"/>
            <a:ext cx="1645920" cy="201168"/>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750" b="1">
                <a:solidFill>
                  <a:srgbClr val="0A0E17"/>
                </a:solidFill>
                <a:latin typeface="Segoe UI"/>
              </a:defRPr>
            </a:pPr>
            <a:r>
              <a:rPr sz="900" dirty="0"/>
              <a:t>IMPLEMENTED &amp; VERIFIED</a:t>
            </a:r>
          </a:p>
        </p:txBody>
      </p:sp>
      <p:sp>
        <p:nvSpPr>
          <p:cNvPr id="17" name="TextBox 16"/>
          <p:cNvSpPr txBox="1"/>
          <p:nvPr/>
        </p:nvSpPr>
        <p:spPr>
          <a:xfrm>
            <a:off x="6419088" y="2468880"/>
            <a:ext cx="2084831" cy="3285515"/>
          </a:xfrm>
          <a:prstGeom prst="rect">
            <a:avLst/>
          </a:prstGeom>
          <a:noFill/>
        </p:spPr>
        <p:txBody>
          <a:bodyPr wrap="square">
            <a:spAutoFit/>
          </a:bodyPr>
          <a:lstStyle/>
          <a:p>
            <a:pPr>
              <a:spcAft>
                <a:spcPts val="600"/>
              </a:spcAft>
              <a:defRPr sz="1100" b="1">
                <a:solidFill>
                  <a:srgbClr val="F8FAFC"/>
                </a:solidFill>
                <a:latin typeface="Segoe UI"/>
              </a:defRPr>
            </a:pPr>
            <a:r>
              <a:rPr sz="1400" dirty="0"/>
              <a:t>SHA-256 &amp; SQLite DB</a:t>
            </a:r>
          </a:p>
          <a:p>
            <a:pPr>
              <a:spcAft>
                <a:spcPts val="500"/>
              </a:spcAft>
              <a:defRPr sz="850">
                <a:solidFill>
                  <a:srgbClr val="E2E8F0"/>
                </a:solidFill>
                <a:latin typeface="Segoe UI"/>
              </a:defRPr>
            </a:pPr>
            <a:r>
              <a:rPr sz="1100" dirty="0"/>
              <a:t>• Python </a:t>
            </a:r>
            <a:r>
              <a:rPr sz="1100" dirty="0" err="1"/>
              <a:t>hashlib</a:t>
            </a:r>
            <a:r>
              <a:rPr sz="1100" dirty="0"/>
              <a:t>: SHA-256 for canonical JSON record hashing.</a:t>
            </a:r>
          </a:p>
          <a:p>
            <a:pPr>
              <a:spcAft>
                <a:spcPts val="500"/>
              </a:spcAft>
              <a:defRPr sz="850">
                <a:solidFill>
                  <a:srgbClr val="E2E8F0"/>
                </a:solidFill>
                <a:latin typeface="Segoe UI"/>
              </a:defRPr>
            </a:pPr>
            <a:r>
              <a:rPr sz="1100" dirty="0"/>
              <a:t>• JSONL Append-Only: High throughput log file with atomic checkpoint file (_</a:t>
            </a:r>
            <a:r>
              <a:rPr sz="1100" dirty="0" err="1"/>
              <a:t>head.json</a:t>
            </a:r>
            <a:r>
              <a:rPr sz="1100" dirty="0"/>
              <a:t>).</a:t>
            </a:r>
          </a:p>
          <a:p>
            <a:pPr>
              <a:spcAft>
                <a:spcPts val="500"/>
              </a:spcAft>
              <a:defRPr sz="850">
                <a:solidFill>
                  <a:srgbClr val="E2E8F0"/>
                </a:solidFill>
                <a:latin typeface="Segoe UI"/>
              </a:defRPr>
            </a:pPr>
            <a:r>
              <a:rPr sz="1100" dirty="0"/>
              <a:t>• SQLite 3 Events: </a:t>
            </a:r>
            <a:r>
              <a:rPr sz="1100" dirty="0" err="1"/>
              <a:t>events.db</a:t>
            </a:r>
            <a:r>
              <a:rPr sz="1100" dirty="0"/>
              <a:t> with LIKE-escaping, SQL-injection immunity, and closed connection safety on Windows.</a:t>
            </a:r>
          </a:p>
          <a:p>
            <a:pPr>
              <a:spcAft>
                <a:spcPts val="500"/>
              </a:spcAft>
              <a:defRPr sz="850">
                <a:solidFill>
                  <a:srgbClr val="E2E8F0"/>
                </a:solidFill>
                <a:latin typeface="Segoe UI"/>
              </a:defRPr>
            </a:pPr>
            <a:r>
              <a:rPr sz="1100" dirty="0"/>
              <a:t>• Zero-Loss Rotation: Old chains archived to data/archive/ with cryptographic head anchoring.</a:t>
            </a:r>
          </a:p>
        </p:txBody>
      </p:sp>
      <p:sp>
        <p:nvSpPr>
          <p:cNvPr id="18" name="Rounded Rectangle 17"/>
          <p:cNvSpPr/>
          <p:nvPr/>
        </p:nvSpPr>
        <p:spPr>
          <a:xfrm>
            <a:off x="8988552" y="1691640"/>
            <a:ext cx="2450592" cy="4251960"/>
          </a:xfrm>
          <a:prstGeom prst="roundRect">
            <a:avLst/>
          </a:prstGeom>
          <a:solidFill>
            <a:srgbClr val="111827"/>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9171432" y="1874520"/>
            <a:ext cx="2011680" cy="237744"/>
          </a:xfrm>
          <a:prstGeom prst="round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850" b="1">
                <a:solidFill>
                  <a:srgbClr val="F8FAFC"/>
                </a:solidFill>
                <a:latin typeface="Segoe UI"/>
              </a:defRPr>
            </a:pPr>
            <a:r>
              <a:rPr sz="1000" dirty="0"/>
              <a:t>AI MODEL INTEGRATION</a:t>
            </a:r>
          </a:p>
        </p:txBody>
      </p:sp>
      <p:sp>
        <p:nvSpPr>
          <p:cNvPr id="20" name="Rounded Rectangle 19"/>
          <p:cNvSpPr/>
          <p:nvPr/>
        </p:nvSpPr>
        <p:spPr>
          <a:xfrm>
            <a:off x="9171432" y="2194560"/>
            <a:ext cx="1645920" cy="201168"/>
          </a:xfrm>
          <a:prstGeom prst="round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750" b="1">
                <a:solidFill>
                  <a:srgbClr val="0A0E17"/>
                </a:solidFill>
                <a:latin typeface="Segoe UI"/>
              </a:defRPr>
            </a:pPr>
            <a:r>
              <a:rPr sz="900" dirty="0"/>
              <a:t>MOCK + GEMINI API READY</a:t>
            </a:r>
          </a:p>
        </p:txBody>
      </p:sp>
      <p:sp>
        <p:nvSpPr>
          <p:cNvPr id="21" name="TextBox 20"/>
          <p:cNvSpPr txBox="1"/>
          <p:nvPr/>
        </p:nvSpPr>
        <p:spPr>
          <a:xfrm>
            <a:off x="9171432" y="2468880"/>
            <a:ext cx="2084831" cy="2890535"/>
          </a:xfrm>
          <a:prstGeom prst="rect">
            <a:avLst/>
          </a:prstGeom>
          <a:noFill/>
        </p:spPr>
        <p:txBody>
          <a:bodyPr wrap="square">
            <a:spAutoFit/>
          </a:bodyPr>
          <a:lstStyle/>
          <a:p>
            <a:pPr>
              <a:spcAft>
                <a:spcPts val="600"/>
              </a:spcAft>
              <a:defRPr sz="1100" b="1">
                <a:solidFill>
                  <a:srgbClr val="F8FAFC"/>
                </a:solidFill>
                <a:latin typeface="Segoe UI"/>
              </a:defRPr>
            </a:pPr>
            <a:r>
              <a:rPr sz="1600" dirty="0"/>
              <a:t>Client LLM Abstraction</a:t>
            </a:r>
          </a:p>
          <a:p>
            <a:pPr>
              <a:spcAft>
                <a:spcPts val="500"/>
              </a:spcAft>
              <a:defRPr sz="850">
                <a:solidFill>
                  <a:srgbClr val="E2E8F0"/>
                </a:solidFill>
                <a:latin typeface="Segoe UI"/>
              </a:defRPr>
            </a:pPr>
            <a:r>
              <a:rPr sz="1050" dirty="0"/>
              <a:t>• Deterministic Local Mock: Supports 3 evaluation modes: benign prompt, injection refusal, and canary token leak.</a:t>
            </a:r>
          </a:p>
          <a:p>
            <a:pPr>
              <a:spcAft>
                <a:spcPts val="500"/>
              </a:spcAft>
              <a:defRPr sz="850">
                <a:solidFill>
                  <a:srgbClr val="E2E8F0"/>
                </a:solidFill>
                <a:latin typeface="Segoe UI"/>
              </a:defRPr>
            </a:pPr>
            <a:r>
              <a:rPr sz="1050" dirty="0"/>
              <a:t>• Google Gemini API: Pluggable upstream integration via LLM_PROVIDER=</a:t>
            </a:r>
            <a:r>
              <a:rPr sz="1050" dirty="0" err="1"/>
              <a:t>gemini</a:t>
            </a:r>
            <a:r>
              <a:rPr sz="1050" dirty="0"/>
              <a:t> and GEMINI_API_KEY in .env.</a:t>
            </a:r>
          </a:p>
          <a:p>
            <a:pPr>
              <a:spcAft>
                <a:spcPts val="500"/>
              </a:spcAft>
              <a:defRPr sz="850">
                <a:solidFill>
                  <a:srgbClr val="E2E8F0"/>
                </a:solidFill>
                <a:latin typeface="Segoe UI"/>
              </a:defRPr>
            </a:pPr>
            <a:r>
              <a:rPr sz="1050" dirty="0"/>
              <a:t>• Zero-Leak Key Architecture: Keys reside strictly in gateway memory; never returned in API responses, never logged, never sent to zones.</a:t>
            </a:r>
          </a:p>
        </p:txBody>
      </p:sp>
      <p:sp>
        <p:nvSpPr>
          <p:cNvPr id="22" name="Rounded Rectangle 21"/>
          <p:cNvSpPr/>
          <p:nvPr/>
        </p:nvSpPr>
        <p:spPr>
          <a:xfrm>
            <a:off x="731520" y="6035040"/>
            <a:ext cx="10716768" cy="438912"/>
          </a:xfrm>
          <a:prstGeom prst="roundRect">
            <a:avLst/>
          </a:prstGeom>
          <a:solidFill>
            <a:srgbClr val="182135"/>
          </a:solidFill>
          <a:ln w="1270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14400" y="6080760"/>
            <a:ext cx="10332720" cy="246221"/>
          </a:xfrm>
          <a:prstGeom prst="rect">
            <a:avLst/>
          </a:prstGeom>
          <a:noFill/>
        </p:spPr>
        <p:txBody>
          <a:bodyPr wrap="square">
            <a:spAutoFit/>
          </a:bodyPr>
          <a:lstStyle/>
          <a:p>
            <a:pPr>
              <a:defRPr sz="850" b="1">
                <a:solidFill>
                  <a:srgbClr val="F59E0B"/>
                </a:solidFill>
                <a:latin typeface="Segoe UI"/>
              </a:defRPr>
            </a:pPr>
            <a:r>
              <a:rPr sz="1000" dirty="0"/>
              <a:t>TRANSPARENCY NOTE: Local mode demonstrates policy enforcement only. Multi-container network isolation is claimed when Docker mode runs.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84048"/>
            <a:ext cx="10515600" cy="256032"/>
          </a:xfrm>
          <a:prstGeom prst="rect">
            <a:avLst/>
          </a:prstGeom>
          <a:noFill/>
        </p:spPr>
        <p:txBody>
          <a:bodyPr wrap="square" lIns="0" tIns="0" rIns="0" bIns="0">
            <a:spAutoFit/>
          </a:bodyPr>
          <a:lstStyle/>
          <a:p>
            <a:pPr>
              <a:defRPr sz="1000" b="1">
                <a:solidFill>
                  <a:srgbClr val="00E5FF"/>
                </a:solidFill>
                <a:latin typeface="Segoe UI"/>
              </a:defRPr>
            </a:pPr>
            <a:r>
              <a:t>09 // MARKET &amp; TARGET PERSONAS</a:t>
            </a:r>
          </a:p>
        </p:txBody>
      </p:sp>
      <p:sp>
        <p:nvSpPr>
          <p:cNvPr id="4" name="TextBox 3"/>
          <p:cNvSpPr txBox="1"/>
          <p:nvPr/>
        </p:nvSpPr>
        <p:spPr>
          <a:xfrm>
            <a:off x="731520" y="658368"/>
            <a:ext cx="10698480" cy="566928"/>
          </a:xfrm>
          <a:prstGeom prst="rect">
            <a:avLst/>
          </a:prstGeom>
          <a:noFill/>
        </p:spPr>
        <p:txBody>
          <a:bodyPr wrap="square" lIns="0" tIns="0" rIns="0" bIns="0">
            <a:spAutoFit/>
          </a:bodyPr>
          <a:lstStyle/>
          <a:p>
            <a:pPr>
              <a:defRPr sz="2200" b="1">
                <a:solidFill>
                  <a:srgbClr val="F8FAFC"/>
                </a:solidFill>
                <a:latin typeface="Segoe UI"/>
              </a:defRPr>
            </a:pPr>
            <a:r>
              <a:t>Target Users &amp; Real-World AI Security Applications</a:t>
            </a:r>
          </a:p>
        </p:txBody>
      </p:sp>
      <p:sp>
        <p:nvSpPr>
          <p:cNvPr id="5" name="TextBox 4"/>
          <p:cNvSpPr txBox="1"/>
          <p:nvPr/>
        </p:nvSpPr>
        <p:spPr>
          <a:xfrm>
            <a:off x="731520" y="1243584"/>
            <a:ext cx="10698480" cy="215444"/>
          </a:xfrm>
          <a:prstGeom prst="rect">
            <a:avLst/>
          </a:prstGeom>
          <a:noFill/>
        </p:spPr>
        <p:txBody>
          <a:bodyPr wrap="square" lIns="0" tIns="0" rIns="0" bIns="0">
            <a:spAutoFit/>
          </a:bodyPr>
          <a:lstStyle/>
          <a:p>
            <a:pPr>
              <a:defRPr sz="1100">
                <a:solidFill>
                  <a:srgbClr val="E2E8F0"/>
                </a:solidFill>
                <a:latin typeface="Segoe UI"/>
              </a:defRPr>
            </a:pPr>
            <a:r>
              <a:rPr sz="1400" dirty="0"/>
              <a:t>Empowering security engineers, AI development teams, and compliance officers with controlled testing infrastructure.</a:t>
            </a:r>
          </a:p>
        </p:txBody>
      </p:sp>
      <p:sp>
        <p:nvSpPr>
          <p:cNvPr id="6" name="Rounded Rectangle 5"/>
          <p:cNvSpPr/>
          <p:nvPr/>
        </p:nvSpPr>
        <p:spPr>
          <a:xfrm>
            <a:off x="731520" y="1691640"/>
            <a:ext cx="2450592" cy="4297680"/>
          </a:xfrm>
          <a:prstGeom prst="roundRect">
            <a:avLst/>
          </a:prstGeom>
          <a:solidFill>
            <a:srgbClr val="111827"/>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68680" y="1874520"/>
            <a:ext cx="2176272" cy="237744"/>
          </a:xfrm>
          <a:prstGeom prst="round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850" b="1">
                <a:solidFill>
                  <a:srgbClr val="F8FAFC"/>
                </a:solidFill>
                <a:latin typeface="Segoe UI"/>
              </a:defRPr>
            </a:pPr>
            <a:r>
              <a:rPr sz="1000" dirty="0"/>
              <a:t>AI RED TEAMS</a:t>
            </a:r>
          </a:p>
        </p:txBody>
      </p:sp>
      <p:sp>
        <p:nvSpPr>
          <p:cNvPr id="8" name="TextBox 7"/>
          <p:cNvSpPr txBox="1"/>
          <p:nvPr/>
        </p:nvSpPr>
        <p:spPr>
          <a:xfrm>
            <a:off x="841248" y="2194560"/>
            <a:ext cx="2231136" cy="3011081"/>
          </a:xfrm>
          <a:prstGeom prst="rect">
            <a:avLst/>
          </a:prstGeom>
          <a:noFill/>
        </p:spPr>
        <p:txBody>
          <a:bodyPr wrap="square">
            <a:spAutoFit/>
          </a:bodyPr>
          <a:lstStyle/>
          <a:p>
            <a:pPr>
              <a:spcAft>
                <a:spcPts val="800"/>
              </a:spcAft>
              <a:defRPr sz="1100" b="1">
                <a:solidFill>
                  <a:srgbClr val="F8FAFC"/>
                </a:solidFill>
                <a:latin typeface="Segoe UI"/>
              </a:defRPr>
            </a:pPr>
            <a:r>
              <a:rPr sz="1600" dirty="0"/>
              <a:t>Adversarial AI Testers</a:t>
            </a:r>
          </a:p>
          <a:p>
            <a:pPr>
              <a:spcAft>
                <a:spcPts val="600"/>
              </a:spcAft>
            </a:pPr>
            <a:r>
              <a:rPr sz="1050" b="1" dirty="0">
                <a:solidFill>
                  <a:srgbClr val="EF4444"/>
                </a:solidFill>
              </a:rPr>
              <a:t>Core Challenge:
</a:t>
            </a:r>
            <a:r>
              <a:rPr sz="1050" b="0" dirty="0">
                <a:solidFill>
                  <a:srgbClr val="E2E8F0"/>
                </a:solidFill>
              </a:rPr>
              <a:t>Need to test aggressive jailbreaks, recursive prompt injections, and autonomous agent exploits safely.</a:t>
            </a:r>
          </a:p>
          <a:p>
            <a:pPr>
              <a:spcAft>
                <a:spcPts val="600"/>
              </a:spcAft>
            </a:pPr>
            <a:r>
              <a:rPr sz="1050" b="1" dirty="0" err="1">
                <a:solidFill>
                  <a:srgbClr val="EF4444"/>
                </a:solidFill>
              </a:rPr>
              <a:t>SafeArena</a:t>
            </a:r>
            <a:r>
              <a:rPr sz="1050" b="1" dirty="0">
                <a:solidFill>
                  <a:srgbClr val="EF4444"/>
                </a:solidFill>
              </a:rPr>
              <a:t> Value:
</a:t>
            </a:r>
            <a:r>
              <a:rPr sz="1050" b="0" dirty="0">
                <a:solidFill>
                  <a:srgbClr val="E2E8F0"/>
                </a:solidFill>
              </a:rPr>
              <a:t>Blast-proof isolated sandbox where payloads cannot escape into companion tools or corporate assets.</a:t>
            </a:r>
          </a:p>
          <a:p>
            <a:pPr>
              <a:spcAft>
                <a:spcPts val="600"/>
              </a:spcAft>
            </a:pPr>
            <a:r>
              <a:rPr sz="1050" b="1" dirty="0">
                <a:solidFill>
                  <a:srgbClr val="EF4444"/>
                </a:solidFill>
              </a:rPr>
              <a:t>Primary Use Case:
</a:t>
            </a:r>
            <a:r>
              <a:rPr sz="1050" b="0" dirty="0">
                <a:solidFill>
                  <a:srgbClr val="E2E8F0"/>
                </a:solidFill>
              </a:rPr>
              <a:t>Automated red-teaming, prompt injection fuzzing, and model guardrail stress-testing.</a:t>
            </a:r>
          </a:p>
        </p:txBody>
      </p:sp>
      <p:sp>
        <p:nvSpPr>
          <p:cNvPr id="9" name="Rounded Rectangle 8"/>
          <p:cNvSpPr/>
          <p:nvPr/>
        </p:nvSpPr>
        <p:spPr>
          <a:xfrm>
            <a:off x="868680" y="5532120"/>
            <a:ext cx="2176272" cy="292608"/>
          </a:xfrm>
          <a:prstGeom prst="roundRect">
            <a:avLst/>
          </a:prstGeom>
          <a:solidFill>
            <a:srgbClr val="182135"/>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800" b="1">
                <a:solidFill>
                  <a:srgbClr val="EF4444"/>
                </a:solidFill>
                <a:latin typeface="Segoe UI"/>
              </a:defRPr>
            </a:pPr>
            <a:r>
              <a:rPr sz="1000" dirty="0"/>
              <a:t>Outcome: Zero Staging Escapes</a:t>
            </a:r>
          </a:p>
        </p:txBody>
      </p:sp>
      <p:sp>
        <p:nvSpPr>
          <p:cNvPr id="10" name="Rounded Rectangle 9"/>
          <p:cNvSpPr/>
          <p:nvPr/>
        </p:nvSpPr>
        <p:spPr>
          <a:xfrm>
            <a:off x="3483864" y="1691640"/>
            <a:ext cx="2450592" cy="4297680"/>
          </a:xfrm>
          <a:prstGeom prst="roundRect">
            <a:avLst/>
          </a:prstGeom>
          <a:solidFill>
            <a:srgbClr val="111827"/>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3621024" y="1874520"/>
            <a:ext cx="2176272" cy="237744"/>
          </a:xfrm>
          <a:prstGeom prst="round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850" b="1">
                <a:solidFill>
                  <a:srgbClr val="F8FAFC"/>
                </a:solidFill>
                <a:latin typeface="Segoe UI"/>
              </a:defRPr>
            </a:pPr>
            <a:r>
              <a:rPr sz="1000" dirty="0"/>
              <a:t>APPSEC &amp; DEVSECOPS</a:t>
            </a:r>
          </a:p>
        </p:txBody>
      </p:sp>
      <p:sp>
        <p:nvSpPr>
          <p:cNvPr id="12" name="TextBox 11"/>
          <p:cNvSpPr txBox="1"/>
          <p:nvPr/>
        </p:nvSpPr>
        <p:spPr>
          <a:xfrm>
            <a:off x="3593592" y="2194560"/>
            <a:ext cx="2231136" cy="3011081"/>
          </a:xfrm>
          <a:prstGeom prst="rect">
            <a:avLst/>
          </a:prstGeom>
          <a:noFill/>
        </p:spPr>
        <p:txBody>
          <a:bodyPr wrap="square">
            <a:spAutoFit/>
          </a:bodyPr>
          <a:lstStyle/>
          <a:p>
            <a:pPr>
              <a:spcAft>
                <a:spcPts val="800"/>
              </a:spcAft>
              <a:defRPr sz="1100" b="1">
                <a:solidFill>
                  <a:srgbClr val="F8FAFC"/>
                </a:solidFill>
                <a:latin typeface="Segoe UI"/>
              </a:defRPr>
            </a:pPr>
            <a:r>
              <a:rPr sz="1600" dirty="0"/>
              <a:t>Enterprise Security Teams</a:t>
            </a:r>
          </a:p>
          <a:p>
            <a:pPr>
              <a:spcAft>
                <a:spcPts val="600"/>
              </a:spcAft>
            </a:pPr>
            <a:r>
              <a:rPr sz="1050" b="1" dirty="0">
                <a:solidFill>
                  <a:srgbClr val="3B82F6"/>
                </a:solidFill>
              </a:rPr>
              <a:t>Core Challenge:
</a:t>
            </a:r>
            <a:r>
              <a:rPr sz="1050" b="0" dirty="0">
                <a:solidFill>
                  <a:srgbClr val="E2E8F0"/>
                </a:solidFill>
              </a:rPr>
              <a:t>Ensuring multi-tenant LLM applications enforce strict boundaries and do not leak internal state.</a:t>
            </a:r>
          </a:p>
          <a:p>
            <a:pPr>
              <a:spcAft>
                <a:spcPts val="600"/>
              </a:spcAft>
            </a:pPr>
            <a:r>
              <a:rPr sz="1050" b="1" dirty="0" err="1">
                <a:solidFill>
                  <a:srgbClr val="3B82F6"/>
                </a:solidFill>
              </a:rPr>
              <a:t>SafeArena</a:t>
            </a:r>
            <a:r>
              <a:rPr sz="1050" b="1" dirty="0">
                <a:solidFill>
                  <a:srgbClr val="3B82F6"/>
                </a:solidFill>
              </a:rPr>
              <a:t> Value:
</a:t>
            </a:r>
            <a:r>
              <a:rPr sz="1050" b="0" dirty="0">
                <a:solidFill>
                  <a:srgbClr val="E2E8F0"/>
                </a:solidFill>
              </a:rPr>
              <a:t>Automated security gate in CI/CD that validates default-deny policies before production release.</a:t>
            </a:r>
          </a:p>
          <a:p>
            <a:pPr>
              <a:spcAft>
                <a:spcPts val="600"/>
              </a:spcAft>
            </a:pPr>
            <a:r>
              <a:rPr sz="1050" b="1" dirty="0">
                <a:solidFill>
                  <a:srgbClr val="3B82F6"/>
                </a:solidFill>
              </a:rPr>
              <a:t>Primary Use Case:
</a:t>
            </a:r>
            <a:r>
              <a:rPr sz="1050" b="0" dirty="0">
                <a:solidFill>
                  <a:srgbClr val="E2E8F0"/>
                </a:solidFill>
              </a:rPr>
              <a:t>Pre-deployment policy validation for multi-agent systems and enterprise RAG pipelines.</a:t>
            </a:r>
          </a:p>
        </p:txBody>
      </p:sp>
      <p:sp>
        <p:nvSpPr>
          <p:cNvPr id="13" name="Rounded Rectangle 12"/>
          <p:cNvSpPr/>
          <p:nvPr/>
        </p:nvSpPr>
        <p:spPr>
          <a:xfrm>
            <a:off x="3621024" y="5532120"/>
            <a:ext cx="2176272" cy="292608"/>
          </a:xfrm>
          <a:prstGeom prst="roundRect">
            <a:avLst/>
          </a:prstGeom>
          <a:solidFill>
            <a:srgbClr val="182135"/>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800" b="1">
                <a:solidFill>
                  <a:srgbClr val="3B82F6"/>
                </a:solidFill>
                <a:latin typeface="Segoe UI"/>
              </a:defRPr>
            </a:pPr>
            <a:r>
              <a:rPr sz="1000" dirty="0"/>
              <a:t>Outcome: Automated CI/CD Gates</a:t>
            </a:r>
          </a:p>
        </p:txBody>
      </p:sp>
      <p:sp>
        <p:nvSpPr>
          <p:cNvPr id="14" name="Rounded Rectangle 13"/>
          <p:cNvSpPr/>
          <p:nvPr/>
        </p:nvSpPr>
        <p:spPr>
          <a:xfrm>
            <a:off x="6236208" y="1691640"/>
            <a:ext cx="2450592" cy="4297680"/>
          </a:xfrm>
          <a:prstGeom prst="roundRect">
            <a:avLst/>
          </a:prstGeom>
          <a:solidFill>
            <a:srgbClr val="111827"/>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6373368" y="1874520"/>
            <a:ext cx="2176272" cy="237744"/>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850" b="1">
                <a:solidFill>
                  <a:srgbClr val="0A0E17"/>
                </a:solidFill>
                <a:latin typeface="Segoe UI"/>
              </a:defRPr>
            </a:pPr>
            <a:r>
              <a:rPr sz="1000" dirty="0"/>
              <a:t>AI GRC &amp; AUDITORS</a:t>
            </a:r>
          </a:p>
        </p:txBody>
      </p:sp>
      <p:sp>
        <p:nvSpPr>
          <p:cNvPr id="16" name="TextBox 15"/>
          <p:cNvSpPr txBox="1"/>
          <p:nvPr/>
        </p:nvSpPr>
        <p:spPr>
          <a:xfrm>
            <a:off x="6345936" y="2194560"/>
            <a:ext cx="2231136" cy="3326552"/>
          </a:xfrm>
          <a:prstGeom prst="rect">
            <a:avLst/>
          </a:prstGeom>
          <a:noFill/>
        </p:spPr>
        <p:txBody>
          <a:bodyPr wrap="square">
            <a:spAutoFit/>
          </a:bodyPr>
          <a:lstStyle/>
          <a:p>
            <a:pPr>
              <a:spcAft>
                <a:spcPts val="800"/>
              </a:spcAft>
              <a:defRPr sz="1100" b="1">
                <a:solidFill>
                  <a:srgbClr val="F8FAFC"/>
                </a:solidFill>
                <a:latin typeface="Segoe UI"/>
              </a:defRPr>
            </a:pPr>
            <a:r>
              <a:rPr sz="1050" dirty="0"/>
              <a:t>Governance &amp; Compliance</a:t>
            </a:r>
          </a:p>
          <a:p>
            <a:pPr>
              <a:spcAft>
                <a:spcPts val="600"/>
              </a:spcAft>
            </a:pPr>
            <a:r>
              <a:rPr sz="1200" b="1" dirty="0">
                <a:solidFill>
                  <a:srgbClr val="10B981"/>
                </a:solidFill>
              </a:rPr>
              <a:t>Core Challenge:
</a:t>
            </a:r>
            <a:r>
              <a:rPr sz="1200" b="0" dirty="0">
                <a:solidFill>
                  <a:srgbClr val="E2E8F0"/>
                </a:solidFill>
              </a:rPr>
              <a:t>Satisfying emerging AI safety regulations (EU AI Act, NIST AI RMF, ISO 42001) with verifiable proof.</a:t>
            </a:r>
          </a:p>
          <a:p>
            <a:pPr>
              <a:spcAft>
                <a:spcPts val="600"/>
              </a:spcAft>
            </a:pPr>
            <a:r>
              <a:rPr sz="1200" b="1" dirty="0" err="1">
                <a:solidFill>
                  <a:srgbClr val="10B981"/>
                </a:solidFill>
              </a:rPr>
              <a:t>SafeArena</a:t>
            </a:r>
            <a:r>
              <a:rPr sz="1200" b="1" dirty="0">
                <a:solidFill>
                  <a:srgbClr val="10B981"/>
                </a:solidFill>
              </a:rPr>
              <a:t> Value:
</a:t>
            </a:r>
            <a:r>
              <a:rPr sz="1200" b="0" dirty="0">
                <a:solidFill>
                  <a:srgbClr val="E2E8F0"/>
                </a:solidFill>
              </a:rPr>
              <a:t>Tamper-evident SHA-256 audit ledger proves exactly what prompts were tested, allowed, or blocked.</a:t>
            </a:r>
          </a:p>
          <a:p>
            <a:pPr>
              <a:spcAft>
                <a:spcPts val="600"/>
              </a:spcAft>
            </a:pPr>
            <a:r>
              <a:rPr sz="1200" b="1" dirty="0">
                <a:solidFill>
                  <a:srgbClr val="10B981"/>
                </a:solidFill>
              </a:rPr>
              <a:t>Primary Use Case:
</a:t>
            </a:r>
            <a:r>
              <a:rPr sz="1200" b="0" dirty="0">
                <a:solidFill>
                  <a:srgbClr val="E2E8F0"/>
                </a:solidFill>
              </a:rPr>
              <a:t>Evidentiary documentation for third-party security audits and regulatory compliance filings.</a:t>
            </a:r>
          </a:p>
        </p:txBody>
      </p:sp>
      <p:sp>
        <p:nvSpPr>
          <p:cNvPr id="17" name="Rounded Rectangle 16"/>
          <p:cNvSpPr/>
          <p:nvPr/>
        </p:nvSpPr>
        <p:spPr>
          <a:xfrm>
            <a:off x="6373368" y="5532120"/>
            <a:ext cx="2176272" cy="292608"/>
          </a:xfrm>
          <a:prstGeom prst="roundRect">
            <a:avLst/>
          </a:prstGeom>
          <a:solidFill>
            <a:srgbClr val="182135"/>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800" b="1">
                <a:solidFill>
                  <a:srgbClr val="10B981"/>
                </a:solidFill>
                <a:latin typeface="Segoe UI"/>
              </a:defRPr>
            </a:pPr>
            <a:r>
              <a:rPr sz="1000" dirty="0"/>
              <a:t>Outcome: Non-Repudiable Evidence</a:t>
            </a:r>
          </a:p>
        </p:txBody>
      </p:sp>
      <p:sp>
        <p:nvSpPr>
          <p:cNvPr id="18" name="Rounded Rectangle 17"/>
          <p:cNvSpPr/>
          <p:nvPr/>
        </p:nvSpPr>
        <p:spPr>
          <a:xfrm>
            <a:off x="8988552" y="1691640"/>
            <a:ext cx="2450592" cy="4297680"/>
          </a:xfrm>
          <a:prstGeom prst="roundRect">
            <a:avLst/>
          </a:prstGeom>
          <a:solidFill>
            <a:srgbClr val="111827"/>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9125712" y="1874520"/>
            <a:ext cx="2176272" cy="237744"/>
          </a:xfrm>
          <a:prstGeom prst="round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850" b="1">
                <a:solidFill>
                  <a:srgbClr val="F8FAFC"/>
                </a:solidFill>
                <a:latin typeface="Segoe UI"/>
              </a:defRPr>
            </a:pPr>
            <a:r>
              <a:rPr sz="1000" dirty="0"/>
              <a:t>ACADEMIC &amp; RANGES</a:t>
            </a:r>
          </a:p>
        </p:txBody>
      </p:sp>
      <p:sp>
        <p:nvSpPr>
          <p:cNvPr id="20" name="TextBox 19"/>
          <p:cNvSpPr txBox="1"/>
          <p:nvPr/>
        </p:nvSpPr>
        <p:spPr>
          <a:xfrm>
            <a:off x="9098280" y="2194560"/>
            <a:ext cx="2231136" cy="2926442"/>
          </a:xfrm>
          <a:prstGeom prst="rect">
            <a:avLst/>
          </a:prstGeom>
          <a:noFill/>
        </p:spPr>
        <p:txBody>
          <a:bodyPr wrap="square">
            <a:spAutoFit/>
          </a:bodyPr>
          <a:lstStyle/>
          <a:p>
            <a:pPr>
              <a:spcAft>
                <a:spcPts val="800"/>
              </a:spcAft>
              <a:defRPr sz="1100" b="1">
                <a:solidFill>
                  <a:srgbClr val="F8FAFC"/>
                </a:solidFill>
                <a:latin typeface="Segoe UI"/>
              </a:defRPr>
            </a:pPr>
            <a:r>
              <a:rPr sz="1600" dirty="0"/>
              <a:t>Education &amp; Training</a:t>
            </a:r>
          </a:p>
          <a:p>
            <a:pPr>
              <a:spcAft>
                <a:spcPts val="600"/>
              </a:spcAft>
            </a:pPr>
            <a:r>
              <a:rPr sz="1050" b="1" dirty="0">
                <a:solidFill>
                  <a:srgbClr val="A855F7"/>
                </a:solidFill>
              </a:rPr>
              <a:t>Core Challenge:
</a:t>
            </a:r>
            <a:r>
              <a:rPr sz="1050" b="0" dirty="0">
                <a:solidFill>
                  <a:srgbClr val="E2E8F0"/>
                </a:solidFill>
              </a:rPr>
              <a:t>Teaching AI adversarial security and prompt injection defense in a safe, repeatable laboratory.</a:t>
            </a:r>
          </a:p>
          <a:p>
            <a:pPr>
              <a:spcAft>
                <a:spcPts val="600"/>
              </a:spcAft>
            </a:pPr>
            <a:r>
              <a:rPr sz="1050" b="1" dirty="0" err="1">
                <a:solidFill>
                  <a:srgbClr val="A855F7"/>
                </a:solidFill>
              </a:rPr>
              <a:t>SafeArena</a:t>
            </a:r>
            <a:r>
              <a:rPr sz="1050" b="1" dirty="0">
                <a:solidFill>
                  <a:srgbClr val="A855F7"/>
                </a:solidFill>
              </a:rPr>
              <a:t> Value:
</a:t>
            </a:r>
            <a:r>
              <a:rPr sz="1050" b="0" dirty="0">
                <a:solidFill>
                  <a:srgbClr val="E2E8F0"/>
                </a:solidFill>
              </a:rPr>
              <a:t>Self-contained environment that students cannot break out of; immediate visual feedback on attack outcomes.</a:t>
            </a:r>
          </a:p>
          <a:p>
            <a:pPr>
              <a:spcAft>
                <a:spcPts val="600"/>
              </a:spcAft>
            </a:pPr>
            <a:r>
              <a:rPr sz="1050" b="1" dirty="0">
                <a:solidFill>
                  <a:srgbClr val="A855F7"/>
                </a:solidFill>
              </a:rPr>
              <a:t>Primary Use Case:
</a:t>
            </a:r>
            <a:r>
              <a:rPr sz="1050" b="0" dirty="0">
                <a:solidFill>
                  <a:srgbClr val="E2E8F0"/>
                </a:solidFill>
              </a:rPr>
              <a:t>Hands-on student AI capture-the-flag (CTF) challenges and defensive training.</a:t>
            </a:r>
          </a:p>
        </p:txBody>
      </p:sp>
      <p:sp>
        <p:nvSpPr>
          <p:cNvPr id="21" name="Rounded Rectangle 20"/>
          <p:cNvSpPr/>
          <p:nvPr/>
        </p:nvSpPr>
        <p:spPr>
          <a:xfrm>
            <a:off x="9125712" y="5532120"/>
            <a:ext cx="2176272" cy="292608"/>
          </a:xfrm>
          <a:prstGeom prst="roundRect">
            <a:avLst/>
          </a:prstGeom>
          <a:solidFill>
            <a:srgbClr val="182135"/>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800" b="1">
                <a:solidFill>
                  <a:srgbClr val="A855F7"/>
                </a:solidFill>
                <a:latin typeface="Segoe UI"/>
              </a:defRPr>
            </a:pPr>
            <a:r>
              <a:rPr sz="1000" dirty="0"/>
              <a:t>Outcome: Safe Student CTF Lab</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84048"/>
            <a:ext cx="10515600" cy="256032"/>
          </a:xfrm>
          <a:prstGeom prst="rect">
            <a:avLst/>
          </a:prstGeom>
          <a:noFill/>
        </p:spPr>
        <p:txBody>
          <a:bodyPr wrap="square" lIns="0" tIns="0" rIns="0" bIns="0">
            <a:spAutoFit/>
          </a:bodyPr>
          <a:lstStyle/>
          <a:p>
            <a:pPr>
              <a:defRPr sz="1000" b="1">
                <a:solidFill>
                  <a:srgbClr val="00E5FF"/>
                </a:solidFill>
                <a:latin typeface="Segoe UI"/>
              </a:defRPr>
            </a:pPr>
            <a:r>
              <a:t>10 // INNOVATION &amp; ROADMAP</a:t>
            </a:r>
          </a:p>
        </p:txBody>
      </p:sp>
      <p:sp>
        <p:nvSpPr>
          <p:cNvPr id="4" name="TextBox 3"/>
          <p:cNvSpPr txBox="1"/>
          <p:nvPr/>
        </p:nvSpPr>
        <p:spPr>
          <a:xfrm>
            <a:off x="731520" y="658368"/>
            <a:ext cx="10698480" cy="566928"/>
          </a:xfrm>
          <a:prstGeom prst="rect">
            <a:avLst/>
          </a:prstGeom>
          <a:noFill/>
        </p:spPr>
        <p:txBody>
          <a:bodyPr wrap="square" lIns="0" tIns="0" rIns="0" bIns="0">
            <a:spAutoFit/>
          </a:bodyPr>
          <a:lstStyle/>
          <a:p>
            <a:pPr>
              <a:defRPr sz="2200" b="1">
                <a:solidFill>
                  <a:srgbClr val="F8FAFC"/>
                </a:solidFill>
                <a:latin typeface="Segoe UI"/>
              </a:defRPr>
            </a:pPr>
            <a:r>
              <a:t>Measured Innovation &amp; Phased Engineering Roadmap</a:t>
            </a:r>
          </a:p>
        </p:txBody>
      </p:sp>
      <p:sp>
        <p:nvSpPr>
          <p:cNvPr id="5" name="TextBox 4"/>
          <p:cNvSpPr txBox="1"/>
          <p:nvPr/>
        </p:nvSpPr>
        <p:spPr>
          <a:xfrm>
            <a:off x="731520" y="1243584"/>
            <a:ext cx="10698480" cy="215444"/>
          </a:xfrm>
          <a:prstGeom prst="rect">
            <a:avLst/>
          </a:prstGeom>
          <a:noFill/>
        </p:spPr>
        <p:txBody>
          <a:bodyPr wrap="square" lIns="0" tIns="0" rIns="0" bIns="0">
            <a:spAutoFit/>
          </a:bodyPr>
          <a:lstStyle/>
          <a:p>
            <a:pPr>
              <a:defRPr sz="1100">
                <a:solidFill>
                  <a:srgbClr val="E2E8F0"/>
                </a:solidFill>
                <a:latin typeface="Segoe UI"/>
              </a:defRPr>
            </a:pPr>
            <a:r>
              <a:rPr sz="1400" dirty="0"/>
              <a:t>A pragmatic development roadmap progressing from our verified prototype to enterprise-grade trust infrastructure.</a:t>
            </a:r>
          </a:p>
        </p:txBody>
      </p:sp>
      <p:sp>
        <p:nvSpPr>
          <p:cNvPr id="6" name="Rounded Rectangle 5"/>
          <p:cNvSpPr/>
          <p:nvPr/>
        </p:nvSpPr>
        <p:spPr>
          <a:xfrm>
            <a:off x="731520" y="1691640"/>
            <a:ext cx="2450592" cy="4297680"/>
          </a:xfrm>
          <a:prstGeom prst="roundRect">
            <a:avLst/>
          </a:prstGeom>
          <a:solidFill>
            <a:srgbClr val="111827"/>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68680" y="1874520"/>
            <a:ext cx="1005840" cy="237744"/>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850" b="1">
                <a:solidFill>
                  <a:srgbClr val="0A0E17"/>
                </a:solidFill>
                <a:latin typeface="Segoe UI"/>
              </a:defRPr>
            </a:pPr>
            <a:r>
              <a:rPr sz="1000" dirty="0"/>
              <a:t>PHASE 1</a:t>
            </a:r>
          </a:p>
        </p:txBody>
      </p:sp>
      <p:sp>
        <p:nvSpPr>
          <p:cNvPr id="8" name="Rounded Rectangle 7"/>
          <p:cNvSpPr/>
          <p:nvPr/>
        </p:nvSpPr>
        <p:spPr>
          <a:xfrm>
            <a:off x="1965960" y="1874520"/>
            <a:ext cx="1078992" cy="237744"/>
          </a:xfrm>
          <a:prstGeom prst="round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750" b="1">
                <a:solidFill>
                  <a:srgbClr val="10B981"/>
                </a:solidFill>
                <a:latin typeface="Segoe UI"/>
              </a:defRPr>
            </a:pPr>
            <a:r>
              <a:rPr sz="900" dirty="0"/>
              <a:t>100% COMPLETED</a:t>
            </a:r>
          </a:p>
        </p:txBody>
      </p:sp>
      <p:sp>
        <p:nvSpPr>
          <p:cNvPr id="9" name="TextBox 8"/>
          <p:cNvSpPr txBox="1"/>
          <p:nvPr/>
        </p:nvSpPr>
        <p:spPr>
          <a:xfrm>
            <a:off x="841248" y="2194560"/>
            <a:ext cx="2231136" cy="2664832"/>
          </a:xfrm>
          <a:prstGeom prst="rect">
            <a:avLst/>
          </a:prstGeom>
          <a:noFill/>
        </p:spPr>
        <p:txBody>
          <a:bodyPr wrap="square">
            <a:spAutoFit/>
          </a:bodyPr>
          <a:lstStyle/>
          <a:p>
            <a:pPr>
              <a:spcAft>
                <a:spcPts val="800"/>
              </a:spcAft>
              <a:defRPr sz="1100" b="1">
                <a:solidFill>
                  <a:srgbClr val="F8FAFC"/>
                </a:solidFill>
                <a:latin typeface="Segoe UI"/>
              </a:defRPr>
            </a:pPr>
            <a:r>
              <a:rPr sz="1600" dirty="0"/>
              <a:t>Core Prototype</a:t>
            </a:r>
          </a:p>
          <a:p>
            <a:pPr>
              <a:spcAft>
                <a:spcPts val="500"/>
              </a:spcAft>
            </a:pPr>
            <a:r>
              <a:rPr sz="1100" b="1" dirty="0">
                <a:solidFill>
                  <a:srgbClr val="10B981"/>
                </a:solidFill>
              </a:rPr>
              <a:t>Policy Engine: </a:t>
            </a:r>
            <a:r>
              <a:rPr sz="1100" b="0" dirty="0">
                <a:solidFill>
                  <a:srgbClr val="E2E8F0"/>
                </a:solidFill>
              </a:rPr>
              <a:t>Framework-decoupled policy engine with strict default-deny enforcement.</a:t>
            </a:r>
          </a:p>
          <a:p>
            <a:pPr>
              <a:spcAft>
                <a:spcPts val="500"/>
              </a:spcAft>
            </a:pPr>
            <a:r>
              <a:rPr sz="1100" b="1" dirty="0">
                <a:solidFill>
                  <a:srgbClr val="10B981"/>
                </a:solidFill>
              </a:rPr>
              <a:t>SHA-256 Ledger: </a:t>
            </a:r>
            <a:r>
              <a:rPr sz="1100" b="0" dirty="0">
                <a:solidFill>
                  <a:srgbClr val="E2E8F0"/>
                </a:solidFill>
              </a:rPr>
              <a:t>Hash-chained JSONL audit ledger with _</a:t>
            </a:r>
            <a:r>
              <a:rPr sz="1100" b="0" dirty="0" err="1">
                <a:solidFill>
                  <a:srgbClr val="E2E8F0"/>
                </a:solidFill>
              </a:rPr>
              <a:t>head.json</a:t>
            </a:r>
            <a:r>
              <a:rPr sz="1100" b="0" dirty="0">
                <a:solidFill>
                  <a:srgbClr val="E2E8F0"/>
                </a:solidFill>
              </a:rPr>
              <a:t> checkpointing.</a:t>
            </a:r>
          </a:p>
          <a:p>
            <a:pPr>
              <a:spcAft>
                <a:spcPts val="500"/>
              </a:spcAft>
            </a:pPr>
            <a:r>
              <a:rPr sz="1100" b="1" dirty="0">
                <a:solidFill>
                  <a:srgbClr val="10B981"/>
                </a:solidFill>
              </a:rPr>
              <a:t>Event Storage: </a:t>
            </a:r>
            <a:r>
              <a:rPr sz="1100" b="0" dirty="0">
                <a:solidFill>
                  <a:srgbClr val="E2E8F0"/>
                </a:solidFill>
              </a:rPr>
              <a:t>SQLite persistent event store with multi-filter indexing.</a:t>
            </a:r>
          </a:p>
          <a:p>
            <a:pPr>
              <a:spcAft>
                <a:spcPts val="500"/>
              </a:spcAft>
            </a:pPr>
            <a:r>
              <a:rPr sz="1100" b="1" dirty="0">
                <a:solidFill>
                  <a:srgbClr val="10B981"/>
                </a:solidFill>
              </a:rPr>
              <a:t>Operator Console: </a:t>
            </a:r>
            <a:r>
              <a:rPr sz="1100" b="0" dirty="0">
                <a:solidFill>
                  <a:srgbClr val="E2E8F0"/>
                </a:solidFill>
              </a:rPr>
              <a:t>Zero-dependency web console with 103 unit and integration tests passing.</a:t>
            </a:r>
          </a:p>
        </p:txBody>
      </p:sp>
      <p:sp>
        <p:nvSpPr>
          <p:cNvPr id="10" name="Rounded Rectangle 9"/>
          <p:cNvSpPr/>
          <p:nvPr/>
        </p:nvSpPr>
        <p:spPr>
          <a:xfrm>
            <a:off x="868680" y="5532120"/>
            <a:ext cx="2176272" cy="292608"/>
          </a:xfrm>
          <a:prstGeom prst="roundRect">
            <a:avLst/>
          </a:prstGeom>
          <a:solidFill>
            <a:srgbClr val="182135"/>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800" b="1">
                <a:solidFill>
                  <a:srgbClr val="10B981"/>
                </a:solidFill>
                <a:latin typeface="Segoe UI"/>
              </a:defRPr>
            </a:pPr>
            <a:r>
              <a:rPr sz="1000" dirty="0"/>
              <a:t>Status: Production-Grade PoC</a:t>
            </a:r>
          </a:p>
        </p:txBody>
      </p:sp>
      <p:sp>
        <p:nvSpPr>
          <p:cNvPr id="11" name="Rounded Rectangle 10"/>
          <p:cNvSpPr/>
          <p:nvPr/>
        </p:nvSpPr>
        <p:spPr>
          <a:xfrm>
            <a:off x="3483864" y="1691640"/>
            <a:ext cx="2450592" cy="4297680"/>
          </a:xfrm>
          <a:prstGeom prst="roundRect">
            <a:avLst/>
          </a:prstGeom>
          <a:solidFill>
            <a:srgbClr val="111827"/>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3621024" y="1874520"/>
            <a:ext cx="1005840" cy="237744"/>
          </a:xfrm>
          <a:prstGeom prst="round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850" b="1">
                <a:solidFill>
                  <a:srgbClr val="F8FAFC"/>
                </a:solidFill>
                <a:latin typeface="Segoe UI"/>
              </a:defRPr>
            </a:pPr>
            <a:r>
              <a:rPr sz="1050" dirty="0"/>
              <a:t>PHASE 2</a:t>
            </a:r>
          </a:p>
        </p:txBody>
      </p:sp>
      <p:sp>
        <p:nvSpPr>
          <p:cNvPr id="13" name="Rounded Rectangle 12"/>
          <p:cNvSpPr/>
          <p:nvPr/>
        </p:nvSpPr>
        <p:spPr>
          <a:xfrm>
            <a:off x="4718304" y="1874520"/>
            <a:ext cx="1078992" cy="237744"/>
          </a:xfrm>
          <a:prstGeom prst="round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750" b="1">
                <a:solidFill>
                  <a:srgbClr val="00E5FF"/>
                </a:solidFill>
                <a:latin typeface="Segoe UI"/>
              </a:defRPr>
            </a:pPr>
            <a:r>
              <a:rPr sz="900" dirty="0"/>
              <a:t>DOCKER READY</a:t>
            </a:r>
          </a:p>
        </p:txBody>
      </p:sp>
      <p:sp>
        <p:nvSpPr>
          <p:cNvPr id="14" name="TextBox 13"/>
          <p:cNvSpPr txBox="1"/>
          <p:nvPr/>
        </p:nvSpPr>
        <p:spPr>
          <a:xfrm>
            <a:off x="3593592" y="2194560"/>
            <a:ext cx="2231136" cy="2664832"/>
          </a:xfrm>
          <a:prstGeom prst="rect">
            <a:avLst/>
          </a:prstGeom>
          <a:noFill/>
        </p:spPr>
        <p:txBody>
          <a:bodyPr wrap="square">
            <a:spAutoFit/>
          </a:bodyPr>
          <a:lstStyle/>
          <a:p>
            <a:pPr>
              <a:spcAft>
                <a:spcPts val="800"/>
              </a:spcAft>
              <a:defRPr sz="1100" b="1">
                <a:solidFill>
                  <a:srgbClr val="F8FAFC"/>
                </a:solidFill>
                <a:latin typeface="Segoe UI"/>
              </a:defRPr>
            </a:pPr>
            <a:r>
              <a:rPr sz="1600" dirty="0"/>
              <a:t>Container Isolation</a:t>
            </a:r>
          </a:p>
          <a:p>
            <a:pPr>
              <a:spcAft>
                <a:spcPts val="500"/>
              </a:spcAft>
            </a:pPr>
            <a:r>
              <a:rPr sz="1100" b="1" dirty="0">
                <a:solidFill>
                  <a:srgbClr val="00E5FF"/>
                </a:solidFill>
              </a:rPr>
              <a:t>Network Subnets: </a:t>
            </a:r>
            <a:r>
              <a:rPr sz="1100" b="0" dirty="0">
                <a:solidFill>
                  <a:srgbClr val="E2E8F0"/>
                </a:solidFill>
              </a:rPr>
              <a:t>Multi-container Docker Compose with internal bridge networks (red, blue, </a:t>
            </a:r>
            <a:r>
              <a:rPr sz="1100" b="0" dirty="0" err="1">
                <a:solidFill>
                  <a:srgbClr val="E2E8F0"/>
                </a:solidFill>
              </a:rPr>
              <a:t>llm</a:t>
            </a:r>
            <a:r>
              <a:rPr sz="1100" b="0" dirty="0">
                <a:solidFill>
                  <a:srgbClr val="E2E8F0"/>
                </a:solidFill>
              </a:rPr>
              <a:t>).</a:t>
            </a:r>
          </a:p>
          <a:p>
            <a:pPr>
              <a:spcAft>
                <a:spcPts val="500"/>
              </a:spcAft>
            </a:pPr>
            <a:r>
              <a:rPr sz="1100" b="1" dirty="0">
                <a:solidFill>
                  <a:srgbClr val="00E5FF"/>
                </a:solidFill>
              </a:rPr>
              <a:t>Container Security: </a:t>
            </a:r>
            <a:r>
              <a:rPr sz="1100" b="0" dirty="0">
                <a:solidFill>
                  <a:srgbClr val="E2E8F0"/>
                </a:solidFill>
              </a:rPr>
              <a:t>Hardened containers: read-only root, dropped caps, no-new-privileges.</a:t>
            </a:r>
          </a:p>
          <a:p>
            <a:pPr>
              <a:spcAft>
                <a:spcPts val="500"/>
              </a:spcAft>
            </a:pPr>
            <a:r>
              <a:rPr sz="1100" b="1" dirty="0">
                <a:solidFill>
                  <a:srgbClr val="00E5FF"/>
                </a:solidFill>
              </a:rPr>
              <a:t>Isolation Script: </a:t>
            </a:r>
            <a:r>
              <a:rPr sz="1100" b="0" dirty="0">
                <a:solidFill>
                  <a:srgbClr val="E2E8F0"/>
                </a:solidFill>
              </a:rPr>
              <a:t>Host-side automated connectivity probe script (docker_isolation_test.py).</a:t>
            </a:r>
          </a:p>
          <a:p>
            <a:pPr>
              <a:spcAft>
                <a:spcPts val="500"/>
              </a:spcAft>
            </a:pPr>
            <a:r>
              <a:rPr sz="1100" b="1" dirty="0">
                <a:solidFill>
                  <a:srgbClr val="00E5FF"/>
                </a:solidFill>
              </a:rPr>
              <a:t>Mode Detection: </a:t>
            </a:r>
            <a:r>
              <a:rPr sz="1100" b="0" dirty="0">
                <a:solidFill>
                  <a:srgbClr val="E2E8F0"/>
                </a:solidFill>
              </a:rPr>
              <a:t>Local simulation vs Docker runtime indicator on dashboard.</a:t>
            </a:r>
          </a:p>
        </p:txBody>
      </p:sp>
      <p:sp>
        <p:nvSpPr>
          <p:cNvPr id="15" name="Rounded Rectangle 14"/>
          <p:cNvSpPr/>
          <p:nvPr/>
        </p:nvSpPr>
        <p:spPr>
          <a:xfrm>
            <a:off x="3621024" y="5532120"/>
            <a:ext cx="2176272" cy="292608"/>
          </a:xfrm>
          <a:prstGeom prst="roundRect">
            <a:avLst/>
          </a:prstGeom>
          <a:solidFill>
            <a:srgbClr val="182135"/>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800" b="1">
                <a:solidFill>
                  <a:srgbClr val="00E5FF"/>
                </a:solidFill>
                <a:latin typeface="Segoe UI"/>
              </a:defRPr>
            </a:pPr>
            <a:r>
              <a:rPr sz="1000" dirty="0"/>
              <a:t>Status: Container Verified</a:t>
            </a:r>
          </a:p>
        </p:txBody>
      </p:sp>
      <p:sp>
        <p:nvSpPr>
          <p:cNvPr id="16" name="Rounded Rectangle 15"/>
          <p:cNvSpPr/>
          <p:nvPr/>
        </p:nvSpPr>
        <p:spPr>
          <a:xfrm>
            <a:off x="6236208" y="1691640"/>
            <a:ext cx="2450592" cy="4297680"/>
          </a:xfrm>
          <a:prstGeom prst="roundRect">
            <a:avLst/>
          </a:prstGeom>
          <a:solidFill>
            <a:srgbClr val="111827"/>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373368" y="1874520"/>
            <a:ext cx="1005840" cy="237744"/>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850" b="1">
                <a:solidFill>
                  <a:srgbClr val="0A0E17"/>
                </a:solidFill>
                <a:latin typeface="Segoe UI"/>
              </a:defRPr>
            </a:pPr>
            <a:r>
              <a:rPr sz="1000" dirty="0"/>
              <a:t>PHASE 3</a:t>
            </a:r>
          </a:p>
        </p:txBody>
      </p:sp>
      <p:sp>
        <p:nvSpPr>
          <p:cNvPr id="18" name="Rounded Rectangle 17"/>
          <p:cNvSpPr/>
          <p:nvPr/>
        </p:nvSpPr>
        <p:spPr>
          <a:xfrm>
            <a:off x="7470648" y="1874520"/>
            <a:ext cx="1078992" cy="237744"/>
          </a:xfrm>
          <a:prstGeom prst="round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750" b="1">
                <a:solidFill>
                  <a:srgbClr val="F59E0B"/>
                </a:solidFill>
                <a:latin typeface="Segoe UI"/>
              </a:defRPr>
            </a:pPr>
            <a:r>
              <a:rPr sz="900" dirty="0"/>
              <a:t>NEXT MILESTONE</a:t>
            </a:r>
          </a:p>
        </p:txBody>
      </p:sp>
      <p:sp>
        <p:nvSpPr>
          <p:cNvPr id="19" name="TextBox 18"/>
          <p:cNvSpPr txBox="1"/>
          <p:nvPr/>
        </p:nvSpPr>
        <p:spPr>
          <a:xfrm>
            <a:off x="6345936" y="2194560"/>
            <a:ext cx="2231136" cy="2741776"/>
          </a:xfrm>
          <a:prstGeom prst="rect">
            <a:avLst/>
          </a:prstGeom>
          <a:noFill/>
        </p:spPr>
        <p:txBody>
          <a:bodyPr wrap="square">
            <a:spAutoFit/>
          </a:bodyPr>
          <a:lstStyle/>
          <a:p>
            <a:pPr>
              <a:spcAft>
                <a:spcPts val="800"/>
              </a:spcAft>
              <a:defRPr sz="1100" b="1">
                <a:solidFill>
                  <a:srgbClr val="F8FAFC"/>
                </a:solidFill>
                <a:latin typeface="Segoe UI"/>
              </a:defRPr>
            </a:pPr>
            <a:r>
              <a:rPr sz="1600" dirty="0"/>
              <a:t>Cryptographic Identity</a:t>
            </a:r>
          </a:p>
          <a:p>
            <a:pPr>
              <a:spcAft>
                <a:spcPts val="500"/>
              </a:spcAft>
            </a:pPr>
            <a:r>
              <a:rPr sz="1100" b="1" dirty="0" err="1">
                <a:solidFill>
                  <a:srgbClr val="F59E0B"/>
                </a:solidFill>
              </a:rPr>
              <a:t>mTLS</a:t>
            </a:r>
            <a:r>
              <a:rPr sz="1100" b="1" dirty="0">
                <a:solidFill>
                  <a:srgbClr val="F59E0B"/>
                </a:solidFill>
              </a:rPr>
              <a:t> / Signed JWTs: </a:t>
            </a:r>
            <a:r>
              <a:rPr sz="1100" b="0" dirty="0">
                <a:solidFill>
                  <a:srgbClr val="E2E8F0"/>
                </a:solidFill>
              </a:rPr>
              <a:t>Mutual TLS or signed JWT tokens for cryptographic zone attestation.</a:t>
            </a:r>
          </a:p>
          <a:p>
            <a:pPr>
              <a:spcAft>
                <a:spcPts val="500"/>
              </a:spcAft>
            </a:pPr>
            <a:r>
              <a:rPr sz="1100" b="1" dirty="0">
                <a:solidFill>
                  <a:srgbClr val="F59E0B"/>
                </a:solidFill>
              </a:rPr>
              <a:t>Identity Provenance: </a:t>
            </a:r>
            <a:r>
              <a:rPr sz="1100" b="0" dirty="0">
                <a:solidFill>
                  <a:srgbClr val="E2E8F0"/>
                </a:solidFill>
              </a:rPr>
              <a:t>Eliminate caller-asserted identity; enforce cryptographic provenance per zone.</a:t>
            </a:r>
          </a:p>
          <a:p>
            <a:pPr>
              <a:spcAft>
                <a:spcPts val="500"/>
              </a:spcAft>
            </a:pPr>
            <a:r>
              <a:rPr sz="1100" b="1" dirty="0">
                <a:solidFill>
                  <a:srgbClr val="F59E0B"/>
                </a:solidFill>
              </a:rPr>
              <a:t>Dynamic DSL: </a:t>
            </a:r>
            <a:r>
              <a:rPr sz="1100" b="0" dirty="0">
                <a:solidFill>
                  <a:srgbClr val="E2E8F0"/>
                </a:solidFill>
              </a:rPr>
              <a:t>Dynamic YAML policy DSL with hot-reloading rules.</a:t>
            </a:r>
          </a:p>
          <a:p>
            <a:pPr>
              <a:spcAft>
                <a:spcPts val="500"/>
              </a:spcAft>
            </a:pPr>
            <a:r>
              <a:rPr sz="1100" b="1" dirty="0">
                <a:solidFill>
                  <a:srgbClr val="F59E0B"/>
                </a:solidFill>
              </a:rPr>
              <a:t>Heuristic Models: </a:t>
            </a:r>
            <a:r>
              <a:rPr sz="1100" b="0" dirty="0">
                <a:solidFill>
                  <a:srgbClr val="E2E8F0"/>
                </a:solidFill>
              </a:rPr>
              <a:t>Advanced semantic prompt-injection classifiers.</a:t>
            </a:r>
          </a:p>
        </p:txBody>
      </p:sp>
      <p:sp>
        <p:nvSpPr>
          <p:cNvPr id="20" name="Rounded Rectangle 19"/>
          <p:cNvSpPr/>
          <p:nvPr/>
        </p:nvSpPr>
        <p:spPr>
          <a:xfrm>
            <a:off x="6373368" y="5532120"/>
            <a:ext cx="2176272" cy="292608"/>
          </a:xfrm>
          <a:prstGeom prst="roundRect">
            <a:avLst/>
          </a:prstGeom>
          <a:solidFill>
            <a:srgbClr val="182135"/>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800" b="1">
                <a:solidFill>
                  <a:srgbClr val="F59E0B"/>
                </a:solidFill>
                <a:latin typeface="Segoe UI"/>
              </a:defRPr>
            </a:pPr>
            <a:r>
              <a:rPr sz="1000" dirty="0"/>
              <a:t>Status: Next Sprint</a:t>
            </a:r>
          </a:p>
        </p:txBody>
      </p:sp>
      <p:sp>
        <p:nvSpPr>
          <p:cNvPr id="21" name="Rounded Rectangle 20"/>
          <p:cNvSpPr/>
          <p:nvPr/>
        </p:nvSpPr>
        <p:spPr>
          <a:xfrm>
            <a:off x="8988552" y="1691640"/>
            <a:ext cx="2450592" cy="4297680"/>
          </a:xfrm>
          <a:prstGeom prst="roundRect">
            <a:avLst/>
          </a:prstGeom>
          <a:solidFill>
            <a:srgbClr val="111827"/>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9125712" y="1874520"/>
            <a:ext cx="1005840" cy="237744"/>
          </a:xfrm>
          <a:prstGeom prst="round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850" b="1">
                <a:solidFill>
                  <a:srgbClr val="F8FAFC"/>
                </a:solidFill>
                <a:latin typeface="Segoe UI"/>
              </a:defRPr>
            </a:pPr>
            <a:r>
              <a:rPr sz="1000" dirty="0"/>
              <a:t>PHASE 4</a:t>
            </a:r>
          </a:p>
        </p:txBody>
      </p:sp>
      <p:sp>
        <p:nvSpPr>
          <p:cNvPr id="23" name="Rounded Rectangle 22"/>
          <p:cNvSpPr/>
          <p:nvPr/>
        </p:nvSpPr>
        <p:spPr>
          <a:xfrm>
            <a:off x="10222992" y="1874520"/>
            <a:ext cx="1078992" cy="237744"/>
          </a:xfrm>
          <a:prstGeom prst="round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750" b="1">
                <a:solidFill>
                  <a:srgbClr val="A855F7"/>
                </a:solidFill>
                <a:latin typeface="Segoe UI"/>
              </a:defRPr>
            </a:pPr>
            <a:r>
              <a:rPr sz="900" dirty="0"/>
              <a:t>FUTURE VISION</a:t>
            </a:r>
          </a:p>
        </p:txBody>
      </p:sp>
      <p:sp>
        <p:nvSpPr>
          <p:cNvPr id="24" name="TextBox 23"/>
          <p:cNvSpPr txBox="1"/>
          <p:nvPr/>
        </p:nvSpPr>
        <p:spPr>
          <a:xfrm>
            <a:off x="9098280" y="2194560"/>
            <a:ext cx="2231136" cy="3141886"/>
          </a:xfrm>
          <a:prstGeom prst="rect">
            <a:avLst/>
          </a:prstGeom>
          <a:noFill/>
        </p:spPr>
        <p:txBody>
          <a:bodyPr wrap="square">
            <a:spAutoFit/>
          </a:bodyPr>
          <a:lstStyle/>
          <a:p>
            <a:pPr>
              <a:spcAft>
                <a:spcPts val="800"/>
              </a:spcAft>
              <a:defRPr sz="1100" b="1">
                <a:solidFill>
                  <a:srgbClr val="F8FAFC"/>
                </a:solidFill>
                <a:latin typeface="Segoe UI"/>
              </a:defRPr>
            </a:pPr>
            <a:r>
              <a:rPr dirty="0"/>
              <a:t>Enterprise Trust Scale</a:t>
            </a:r>
          </a:p>
          <a:p>
            <a:pPr>
              <a:spcAft>
                <a:spcPts val="500"/>
              </a:spcAft>
            </a:pPr>
            <a:r>
              <a:rPr sz="1200" b="1" dirty="0">
                <a:solidFill>
                  <a:srgbClr val="A855F7"/>
                </a:solidFill>
              </a:rPr>
              <a:t>Hardware Keys: </a:t>
            </a:r>
            <a:r>
              <a:rPr sz="1200" b="0" dirty="0">
                <a:solidFill>
                  <a:srgbClr val="E2E8F0"/>
                </a:solidFill>
              </a:rPr>
              <a:t>Hardware Security Module (HSM) / AWS KMS integration for audit log signing.</a:t>
            </a:r>
          </a:p>
          <a:p>
            <a:pPr>
              <a:spcAft>
                <a:spcPts val="500"/>
              </a:spcAft>
            </a:pPr>
            <a:r>
              <a:rPr sz="1200" b="1" dirty="0">
                <a:solidFill>
                  <a:srgbClr val="A855F7"/>
                </a:solidFill>
              </a:rPr>
              <a:t>WORM Storage: </a:t>
            </a:r>
            <a:r>
              <a:rPr sz="1200" b="0" dirty="0">
                <a:solidFill>
                  <a:srgbClr val="E2E8F0"/>
                </a:solidFill>
              </a:rPr>
              <a:t>Write-Once-Read-Many cloud storage integration (AWS S3 Object Lock).</a:t>
            </a:r>
          </a:p>
          <a:p>
            <a:pPr>
              <a:spcAft>
                <a:spcPts val="500"/>
              </a:spcAft>
            </a:pPr>
            <a:r>
              <a:rPr sz="1200" b="1" dirty="0">
                <a:solidFill>
                  <a:srgbClr val="A855F7"/>
                </a:solidFill>
              </a:rPr>
              <a:t>Transparency Log: </a:t>
            </a:r>
            <a:r>
              <a:rPr sz="1200" b="0" dirty="0">
                <a:solidFill>
                  <a:srgbClr val="E2E8F0"/>
                </a:solidFill>
              </a:rPr>
              <a:t>Public transparency log publishing for non-repudiable verification.</a:t>
            </a:r>
          </a:p>
          <a:p>
            <a:pPr>
              <a:spcAft>
                <a:spcPts val="500"/>
              </a:spcAft>
            </a:pPr>
            <a:r>
              <a:rPr sz="1200" b="1" dirty="0">
                <a:solidFill>
                  <a:srgbClr val="A855F7"/>
                </a:solidFill>
              </a:rPr>
              <a:t>Multi-Node Swarms: </a:t>
            </a:r>
            <a:r>
              <a:rPr sz="1200" b="0" dirty="0">
                <a:solidFill>
                  <a:srgbClr val="E2E8F0"/>
                </a:solidFill>
              </a:rPr>
              <a:t>Distributed multi-node testbed for multi-agent swarm evaluations.</a:t>
            </a:r>
          </a:p>
        </p:txBody>
      </p:sp>
      <p:sp>
        <p:nvSpPr>
          <p:cNvPr id="25" name="Rounded Rectangle 24"/>
          <p:cNvSpPr/>
          <p:nvPr/>
        </p:nvSpPr>
        <p:spPr>
          <a:xfrm>
            <a:off x="9125712" y="5532120"/>
            <a:ext cx="2176272" cy="292608"/>
          </a:xfrm>
          <a:prstGeom prst="roundRect">
            <a:avLst/>
          </a:prstGeom>
          <a:solidFill>
            <a:srgbClr val="182135"/>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800" b="1">
                <a:solidFill>
                  <a:srgbClr val="A855F7"/>
                </a:solidFill>
                <a:latin typeface="Segoe UI"/>
              </a:defRPr>
            </a:pPr>
            <a:r>
              <a:rPr sz="1000" dirty="0"/>
              <a:t>Status: Enterprise Scale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31520" y="548640"/>
            <a:ext cx="2011680" cy="292608"/>
          </a:xfrm>
          <a:prstGeom prst="round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950" b="1">
                <a:solidFill>
                  <a:srgbClr val="0A0E17"/>
                </a:solidFill>
                <a:latin typeface="Segoe UI"/>
              </a:defRPr>
            </a:pPr>
            <a:r>
              <a:rPr sz="1050" dirty="0"/>
              <a:t>SAFEARENA CONCLUSION</a:t>
            </a:r>
          </a:p>
        </p:txBody>
      </p:sp>
      <p:sp>
        <p:nvSpPr>
          <p:cNvPr id="4" name="Rounded Rectangle 3"/>
          <p:cNvSpPr/>
          <p:nvPr/>
        </p:nvSpPr>
        <p:spPr>
          <a:xfrm>
            <a:off x="2834640" y="548640"/>
            <a:ext cx="2194560" cy="292608"/>
          </a:xfrm>
          <a:prstGeom prst="round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950" b="1">
                <a:solidFill>
                  <a:srgbClr val="00E5FF"/>
                </a:solidFill>
                <a:latin typeface="Segoe UI"/>
              </a:defRPr>
            </a:pPr>
            <a:r>
              <a:rPr sz="1050" dirty="0"/>
              <a:t>HACK IN HILLS '26</a:t>
            </a:r>
          </a:p>
        </p:txBody>
      </p:sp>
      <p:sp>
        <p:nvSpPr>
          <p:cNvPr id="5" name="Rounded Rectangle 4"/>
          <p:cNvSpPr/>
          <p:nvPr/>
        </p:nvSpPr>
        <p:spPr>
          <a:xfrm>
            <a:off x="731520" y="1051560"/>
            <a:ext cx="10725912" cy="2011680"/>
          </a:xfrm>
          <a:prstGeom prst="roundRect">
            <a:avLst/>
          </a:prstGeom>
          <a:solidFill>
            <a:srgbClr val="111827"/>
          </a:solidFill>
          <a:ln w="254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5840" y="1234440"/>
            <a:ext cx="10149840" cy="1645920"/>
          </a:xfrm>
          <a:prstGeom prst="rect">
            <a:avLst/>
          </a:prstGeom>
          <a:noFill/>
        </p:spPr>
        <p:txBody>
          <a:bodyPr wrap="square">
            <a:spAutoFit/>
          </a:bodyPr>
          <a:lstStyle/>
          <a:p>
            <a:pPr>
              <a:spcAft>
                <a:spcPts val="400"/>
              </a:spcAft>
              <a:defRPr sz="2600" b="1">
                <a:solidFill>
                  <a:srgbClr val="F8FAFC"/>
                </a:solidFill>
                <a:latin typeface="Segoe UI"/>
              </a:defRPr>
            </a:pPr>
            <a:r>
              <a:t>“Test AI systems in a controlled environment.</a:t>
            </a:r>
          </a:p>
          <a:p>
            <a:pPr>
              <a:defRPr sz="2600" b="1">
                <a:solidFill>
                  <a:srgbClr val="00E5FF"/>
                </a:solidFill>
                <a:latin typeface="Segoe UI"/>
              </a:defRPr>
            </a:pPr>
            <a:r>
              <a:t>Enforce the rules. Record what happens. Verify the evidence.”</a:t>
            </a:r>
          </a:p>
        </p:txBody>
      </p:sp>
      <p:sp>
        <p:nvSpPr>
          <p:cNvPr id="7" name="Rounded Rectangle 6"/>
          <p:cNvSpPr/>
          <p:nvPr/>
        </p:nvSpPr>
        <p:spPr>
          <a:xfrm>
            <a:off x="731520" y="3246120"/>
            <a:ext cx="2542032" cy="1645920"/>
          </a:xfrm>
          <a:prstGeom prst="roundRect">
            <a:avLst/>
          </a:prstGeom>
          <a:solidFill>
            <a:srgbClr val="182135"/>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68680" y="3410712"/>
            <a:ext cx="1097280" cy="219456"/>
          </a:xfrm>
          <a:prstGeom prst="round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850" b="1">
                <a:solidFill>
                  <a:srgbClr val="F8FAFC"/>
                </a:solidFill>
                <a:latin typeface="Segoe UI"/>
              </a:defRPr>
            </a:pPr>
            <a:r>
              <a:rPr sz="1000" dirty="0"/>
              <a:t>ISOLATE</a:t>
            </a:r>
          </a:p>
        </p:txBody>
      </p:sp>
      <p:sp>
        <p:nvSpPr>
          <p:cNvPr id="9" name="TextBox 8"/>
          <p:cNvSpPr txBox="1"/>
          <p:nvPr/>
        </p:nvSpPr>
        <p:spPr>
          <a:xfrm>
            <a:off x="868680" y="3685032"/>
            <a:ext cx="2267712" cy="843821"/>
          </a:xfrm>
          <a:prstGeom prst="rect">
            <a:avLst/>
          </a:prstGeom>
          <a:noFill/>
        </p:spPr>
        <p:txBody>
          <a:bodyPr wrap="square">
            <a:spAutoFit/>
          </a:bodyPr>
          <a:lstStyle/>
          <a:p>
            <a:pPr>
              <a:spcAft>
                <a:spcPts val="400"/>
              </a:spcAft>
              <a:defRPr sz="1100" b="1">
                <a:solidFill>
                  <a:srgbClr val="F8FAFC"/>
                </a:solidFill>
                <a:latin typeface="Segoe UI"/>
              </a:defRPr>
            </a:pPr>
            <a:r>
              <a:rPr sz="1400" dirty="0"/>
              <a:t>Segregated Sandboxes</a:t>
            </a:r>
          </a:p>
          <a:p>
            <a:pPr>
              <a:defRPr sz="950">
                <a:solidFill>
                  <a:srgbClr val="F8FAFC"/>
                </a:solidFill>
                <a:latin typeface="Segoe UI"/>
              </a:defRPr>
            </a:pPr>
            <a:r>
              <a:rPr sz="1050" dirty="0"/>
              <a:t>Red, Blue, and LLM zones run in separate network subnets with dropped capabilities.</a:t>
            </a:r>
          </a:p>
        </p:txBody>
      </p:sp>
      <p:sp>
        <p:nvSpPr>
          <p:cNvPr id="10" name="Rounded Rectangle 9"/>
          <p:cNvSpPr/>
          <p:nvPr/>
        </p:nvSpPr>
        <p:spPr>
          <a:xfrm>
            <a:off x="3456432" y="3246120"/>
            <a:ext cx="2542032" cy="1645920"/>
          </a:xfrm>
          <a:prstGeom prst="roundRect">
            <a:avLst/>
          </a:prstGeom>
          <a:solidFill>
            <a:srgbClr val="182135"/>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3593592" y="3410712"/>
            <a:ext cx="1097280" cy="219456"/>
          </a:xfrm>
          <a:prstGeom prst="round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850" b="1">
                <a:solidFill>
                  <a:srgbClr val="0A0E17"/>
                </a:solidFill>
                <a:latin typeface="Segoe UI"/>
              </a:defRPr>
            </a:pPr>
            <a:r>
              <a:rPr sz="1000" dirty="0"/>
              <a:t>CONTROL</a:t>
            </a:r>
          </a:p>
        </p:txBody>
      </p:sp>
      <p:sp>
        <p:nvSpPr>
          <p:cNvPr id="12" name="TextBox 11"/>
          <p:cNvSpPr txBox="1"/>
          <p:nvPr/>
        </p:nvSpPr>
        <p:spPr>
          <a:xfrm>
            <a:off x="3593592" y="3685032"/>
            <a:ext cx="2267712" cy="843821"/>
          </a:xfrm>
          <a:prstGeom prst="rect">
            <a:avLst/>
          </a:prstGeom>
          <a:noFill/>
        </p:spPr>
        <p:txBody>
          <a:bodyPr wrap="square">
            <a:spAutoFit/>
          </a:bodyPr>
          <a:lstStyle/>
          <a:p>
            <a:pPr>
              <a:spcAft>
                <a:spcPts val="400"/>
              </a:spcAft>
              <a:defRPr sz="1100" b="1">
                <a:solidFill>
                  <a:srgbClr val="F8FAFC"/>
                </a:solidFill>
                <a:latin typeface="Segoe UI"/>
              </a:defRPr>
            </a:pPr>
            <a:r>
              <a:rPr sz="1400" dirty="0"/>
              <a:t>Default-Deny Gateway</a:t>
            </a:r>
          </a:p>
          <a:p>
            <a:pPr>
              <a:defRPr sz="950">
                <a:solidFill>
                  <a:srgbClr val="F8FAFC"/>
                </a:solidFill>
                <a:latin typeface="Segoe UI"/>
              </a:defRPr>
            </a:pPr>
            <a:r>
              <a:rPr sz="1050" dirty="0"/>
              <a:t>Every request is evaluated; unauthorized lateral movement blocked with 403 Forbidden.</a:t>
            </a:r>
          </a:p>
        </p:txBody>
      </p:sp>
      <p:sp>
        <p:nvSpPr>
          <p:cNvPr id="13" name="Rounded Rectangle 12"/>
          <p:cNvSpPr/>
          <p:nvPr/>
        </p:nvSpPr>
        <p:spPr>
          <a:xfrm>
            <a:off x="6181344" y="3246120"/>
            <a:ext cx="2542032" cy="1645920"/>
          </a:xfrm>
          <a:prstGeom prst="roundRect">
            <a:avLst/>
          </a:prstGeom>
          <a:solidFill>
            <a:srgbClr val="182135"/>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318504" y="3410712"/>
            <a:ext cx="1097280" cy="219456"/>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850" b="1">
                <a:solidFill>
                  <a:srgbClr val="0A0E17"/>
                </a:solidFill>
                <a:latin typeface="Segoe UI"/>
              </a:defRPr>
            </a:pPr>
            <a:r>
              <a:rPr sz="1000" dirty="0"/>
              <a:t>DETECT</a:t>
            </a:r>
          </a:p>
        </p:txBody>
      </p:sp>
      <p:sp>
        <p:nvSpPr>
          <p:cNvPr id="15" name="TextBox 14"/>
          <p:cNvSpPr txBox="1"/>
          <p:nvPr/>
        </p:nvSpPr>
        <p:spPr>
          <a:xfrm>
            <a:off x="6318504" y="3685032"/>
            <a:ext cx="2267712" cy="843821"/>
          </a:xfrm>
          <a:prstGeom prst="rect">
            <a:avLst/>
          </a:prstGeom>
          <a:noFill/>
        </p:spPr>
        <p:txBody>
          <a:bodyPr wrap="square">
            <a:spAutoFit/>
          </a:bodyPr>
          <a:lstStyle/>
          <a:p>
            <a:pPr>
              <a:spcAft>
                <a:spcPts val="400"/>
              </a:spcAft>
              <a:defRPr sz="1100" b="1">
                <a:solidFill>
                  <a:srgbClr val="F8FAFC"/>
                </a:solidFill>
                <a:latin typeface="Segoe UI"/>
              </a:defRPr>
            </a:pPr>
            <a:r>
              <a:rPr sz="1400" dirty="0"/>
              <a:t>Real-Time Telemetry</a:t>
            </a:r>
          </a:p>
          <a:p>
            <a:pPr>
              <a:defRPr sz="950">
                <a:solidFill>
                  <a:srgbClr val="F8FAFC"/>
                </a:solidFill>
                <a:latin typeface="Segoe UI"/>
              </a:defRPr>
            </a:pPr>
            <a:r>
              <a:rPr sz="1050" dirty="0"/>
              <a:t>Severity-rated events and injection heuristics committed to SQLite and operator UI.</a:t>
            </a:r>
          </a:p>
        </p:txBody>
      </p:sp>
      <p:sp>
        <p:nvSpPr>
          <p:cNvPr id="16" name="Rounded Rectangle 15"/>
          <p:cNvSpPr/>
          <p:nvPr/>
        </p:nvSpPr>
        <p:spPr>
          <a:xfrm>
            <a:off x="8906256" y="3246120"/>
            <a:ext cx="2542032" cy="1645920"/>
          </a:xfrm>
          <a:prstGeom prst="roundRect">
            <a:avLst/>
          </a:prstGeom>
          <a:solidFill>
            <a:srgbClr val="182135"/>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9043416" y="3410712"/>
            <a:ext cx="1097280" cy="219456"/>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850" b="1">
                <a:solidFill>
                  <a:srgbClr val="0A0E17"/>
                </a:solidFill>
                <a:latin typeface="Segoe UI"/>
              </a:defRPr>
            </a:pPr>
            <a:r>
              <a:rPr sz="1000" dirty="0"/>
              <a:t>PROVE</a:t>
            </a:r>
          </a:p>
        </p:txBody>
      </p:sp>
      <p:sp>
        <p:nvSpPr>
          <p:cNvPr id="18" name="TextBox 17"/>
          <p:cNvSpPr txBox="1"/>
          <p:nvPr/>
        </p:nvSpPr>
        <p:spPr>
          <a:xfrm>
            <a:off x="9043416" y="3685032"/>
            <a:ext cx="2267712" cy="843821"/>
          </a:xfrm>
          <a:prstGeom prst="rect">
            <a:avLst/>
          </a:prstGeom>
          <a:noFill/>
        </p:spPr>
        <p:txBody>
          <a:bodyPr wrap="square">
            <a:spAutoFit/>
          </a:bodyPr>
          <a:lstStyle/>
          <a:p>
            <a:pPr>
              <a:spcAft>
                <a:spcPts val="400"/>
              </a:spcAft>
              <a:defRPr sz="1100" b="1">
                <a:solidFill>
                  <a:srgbClr val="F8FAFC"/>
                </a:solidFill>
                <a:latin typeface="Segoe UI"/>
              </a:defRPr>
            </a:pPr>
            <a:r>
              <a:rPr sz="1400" dirty="0"/>
              <a:t>SHA-256 Audit Ledger</a:t>
            </a:r>
          </a:p>
          <a:p>
            <a:pPr>
              <a:defRPr sz="950">
                <a:solidFill>
                  <a:srgbClr val="F8FAFC"/>
                </a:solidFill>
                <a:latin typeface="Segoe UI"/>
              </a:defRPr>
            </a:pPr>
            <a:r>
              <a:rPr sz="1050" dirty="0"/>
              <a:t>Mathematical proof of integrity; verified against 7 distinct tamper scenarios.</a:t>
            </a:r>
          </a:p>
        </p:txBody>
      </p:sp>
      <p:sp>
        <p:nvSpPr>
          <p:cNvPr id="19" name="Rounded Rectangle 18"/>
          <p:cNvSpPr/>
          <p:nvPr/>
        </p:nvSpPr>
        <p:spPr>
          <a:xfrm>
            <a:off x="731520" y="5074920"/>
            <a:ext cx="10725912" cy="1188720"/>
          </a:xfrm>
          <a:prstGeom prst="roundRect">
            <a:avLst/>
          </a:prstGeom>
          <a:solidFill>
            <a:srgbClr val="182135"/>
          </a:solidFill>
          <a:ln w="1270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05840" y="5193792"/>
            <a:ext cx="10149840" cy="810478"/>
          </a:xfrm>
          <a:prstGeom prst="rect">
            <a:avLst/>
          </a:prstGeom>
          <a:noFill/>
        </p:spPr>
        <p:txBody>
          <a:bodyPr wrap="square">
            <a:spAutoFit/>
          </a:bodyPr>
          <a:lstStyle/>
          <a:p>
            <a:pPr>
              <a:spcAft>
                <a:spcPts val="400"/>
              </a:spcAft>
              <a:defRPr sz="1200" b="1">
                <a:solidFill>
                  <a:srgbClr val="00E5FF"/>
                </a:solidFill>
                <a:latin typeface="Segoe UI"/>
              </a:defRPr>
            </a:pPr>
            <a:r>
              <a:rPr sz="1400" dirty="0" err="1"/>
              <a:t>SafeArena</a:t>
            </a:r>
            <a:r>
              <a:rPr sz="1400" dirty="0"/>
              <a:t>  ·  Created by VSV The Tech Giants  ·  Hack in Hills '26</a:t>
            </a:r>
          </a:p>
          <a:p>
            <a:pPr>
              <a:spcAft>
                <a:spcPts val="400"/>
              </a:spcAft>
              <a:defRPr sz="1000">
                <a:solidFill>
                  <a:srgbClr val="F8FAFC"/>
                </a:solidFill>
                <a:latin typeface="Segoe UI"/>
              </a:defRPr>
            </a:pPr>
            <a:r>
              <a:rPr sz="1400" dirty="0"/>
              <a:t>Working Codebase &amp; Automated Test Suite Ready for Evaluation  ·  Open Architecture  ·  Python 3.12 / Docker</a:t>
            </a:r>
          </a:p>
          <a:p>
            <a:pPr>
              <a:defRPr sz="950" b="1">
                <a:solidFill>
                  <a:srgbClr val="10B981"/>
                </a:solidFill>
                <a:latin typeface="Segoe UI"/>
              </a:defRPr>
            </a:pPr>
            <a:r>
              <a:rPr sz="1200" dirty="0"/>
              <a:t>Thank you judges! We welcome your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TotalTime>
  <Words>4772</Words>
  <Application>Microsoft Office PowerPoint</Application>
  <PresentationFormat>Widescreen</PresentationFormat>
  <Paragraphs>342</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lakshya padhan</cp:lastModifiedBy>
  <cp:revision>4</cp:revision>
  <dcterms:created xsi:type="dcterms:W3CDTF">2013-01-27T09:14:16Z</dcterms:created>
  <dcterms:modified xsi:type="dcterms:W3CDTF">2026-10-24T15:49:52Z</dcterms:modified>
  <cp:category/>
</cp:coreProperties>
</file>